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9" r:id="rId2"/>
    <p:sldId id="581" r:id="rId3"/>
    <p:sldId id="2276" r:id="rId4"/>
    <p:sldId id="2305" r:id="rId5"/>
    <p:sldId id="2279" r:id="rId6"/>
    <p:sldId id="273" r:id="rId7"/>
    <p:sldId id="2349" r:id="rId8"/>
    <p:sldId id="2350" r:id="rId9"/>
    <p:sldId id="2282" r:id="rId10"/>
    <p:sldId id="2351" r:id="rId11"/>
    <p:sldId id="2359" r:id="rId12"/>
    <p:sldId id="2254" r:id="rId13"/>
    <p:sldId id="2352" r:id="rId14"/>
    <p:sldId id="2353" r:id="rId15"/>
    <p:sldId id="2277" r:id="rId16"/>
    <p:sldId id="2286" r:id="rId17"/>
    <p:sldId id="2315" r:id="rId18"/>
    <p:sldId id="2325" r:id="rId19"/>
    <p:sldId id="2354" r:id="rId20"/>
    <p:sldId id="2355" r:id="rId21"/>
    <p:sldId id="2284" r:id="rId22"/>
    <p:sldId id="2281" r:id="rId23"/>
    <p:sldId id="2360" r:id="rId24"/>
    <p:sldId id="2309" r:id="rId25"/>
    <p:sldId id="2356" r:id="rId26"/>
    <p:sldId id="2363" r:id="rId27"/>
    <p:sldId id="2361" r:id="rId28"/>
    <p:sldId id="2362" r:id="rId29"/>
    <p:sldId id="2302" r:id="rId30"/>
    <p:sldId id="2357" r:id="rId31"/>
    <p:sldId id="2287" r:id="rId32"/>
    <p:sldId id="2290" r:id="rId33"/>
    <p:sldId id="2310" r:id="rId34"/>
    <p:sldId id="2358" r:id="rId35"/>
    <p:sldId id="2291" r:id="rId36"/>
    <p:sldId id="2364" r:id="rId37"/>
    <p:sldId id="313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5B44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02" autoAdjust="0"/>
    <p:restoredTop sz="88376" autoAdjust="0"/>
  </p:normalViewPr>
  <p:slideViewPr>
    <p:cSldViewPr snapToGrid="0">
      <p:cViewPr varScale="1">
        <p:scale>
          <a:sx n="140" d="100"/>
          <a:sy n="140" d="100"/>
        </p:scale>
        <p:origin x="2286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3277DD-C3E9-4E78-A716-DDA0D1CB2300}" type="datetimeFigureOut">
              <a:rPr lang="zh-CN" altLang="en-US" smtClean="0"/>
              <a:t>2026-07-02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6D9B00-690C-4A03-956F-A252B802F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69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494B5-52BA-D88B-7170-2F416B66F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B04FCF-350F-BA3E-B26A-C1562F05C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228BAC-3B04-31D5-0673-E3116DD68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3AA5ED-EC6F-A491-B594-8DAA25D401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79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E90DD-E30B-D348-2C13-F2DD026E3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28DAC6-CCF6-BE00-E7E6-4E549ED09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D947D3-D562-C109-155A-A21EF5AD5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B9544B-F7C9-6F86-2C46-385F63D3D4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57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B59A2-BE0C-3242-A9D2-BD04A179C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001165-63B5-BE06-86D5-C6C750136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8FE6A8-3459-0F88-A71D-632D5CF25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9B35FB-C314-9C21-5D5A-14D7F68801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822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Fig. 1e</a:t>
            </a:r>
            <a:r>
              <a:rPr lang="zh-CN" altLang="en-US" dirty="0"/>
              <a:t>  </a:t>
            </a:r>
            <a:r>
              <a:rPr lang="zh-CN" altLang="zh-CN" dirty="0"/>
              <a:t>bulk colon tissue qPCR</a:t>
            </a:r>
            <a:br>
              <a:rPr lang="en-US" altLang="zh-CN" dirty="0"/>
            </a:br>
            <a:r>
              <a:rPr lang="zh-CN" altLang="zh-CN" dirty="0"/>
              <a:t>Fig. 1g每天观察粪便形态评分：0：正常成形颗粒粪便</a:t>
            </a:r>
            <a:r>
              <a:rPr lang="zh-CN" altLang="en-US" dirty="0"/>
              <a:t>，</a:t>
            </a:r>
            <a:r>
              <a:rPr lang="zh-CN" altLang="zh-CN" dirty="0"/>
              <a:t>1：变软但仍成形</a:t>
            </a:r>
            <a:r>
              <a:rPr lang="zh-CN" altLang="en-US" dirty="0"/>
              <a:t>，</a:t>
            </a:r>
            <a:r>
              <a:rPr lang="zh-CN" altLang="zh-CN" dirty="0"/>
              <a:t>2：软便</a:t>
            </a:r>
            <a:r>
              <a:rPr lang="zh-CN" altLang="en-US" dirty="0"/>
              <a:t>，</a:t>
            </a:r>
            <a:r>
              <a:rPr lang="zh-CN" altLang="zh-CN" dirty="0"/>
              <a:t>3：水样腹泻</a:t>
            </a:r>
            <a:r>
              <a:rPr lang="zh-CN" altLang="en-US" dirty="0"/>
              <a:t>，</a:t>
            </a:r>
            <a:r>
              <a:rPr lang="zh-CN" altLang="zh-CN" dirty="0"/>
              <a:t>分数越高，说明腹泻越严重。</a:t>
            </a:r>
          </a:p>
          <a:p>
            <a:r>
              <a:rPr lang="en-US" altLang="zh-CN" dirty="0"/>
              <a:t>Fig. 1h </a:t>
            </a:r>
            <a:r>
              <a:rPr lang="zh-CN" altLang="zh-CN" dirty="0"/>
              <a:t>DAI 是 </a:t>
            </a:r>
            <a:r>
              <a:rPr lang="zh-CN" altLang="zh-CN" b="1" dirty="0"/>
              <a:t>Disease Activity Index，疾病活动指数</a:t>
            </a:r>
            <a:r>
              <a:rPr lang="zh-CN" altLang="zh-CN" dirty="0"/>
              <a:t>，用于综合评价 DSS 结肠炎严重程度。这篇文章的 DAI = 体重下降评分 + 粪便稠度评分 + 直肠出血评分，总分 0–11，越高越严重。</a:t>
            </a:r>
          </a:p>
          <a:p>
            <a:r>
              <a:rPr lang="zh-CN" altLang="zh-CN" dirty="0"/>
              <a:t>Fig. 1l：FITC-dextran 通透性实验</a:t>
            </a:r>
            <a:r>
              <a:rPr lang="zh-CN" altLang="en-US" dirty="0"/>
              <a:t>。</a:t>
            </a:r>
            <a:r>
              <a:rPr lang="zh-CN" altLang="zh-CN" dirty="0"/>
              <a:t>给小鼠灌胃 FITC-dextran，4 小时后测血清荧光。正常屏障下它不容易进血；血清里越高，说明肠屏障越“漏”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162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DD0F7-8157-4ACD-CFB0-6DB9B519C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C158B3-CB45-3DF3-57D7-EE4C21548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ED262F-81B6-985B-CE41-EB25BBFA3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D0E972-567D-16E3-0FB5-6253EB7287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826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0223A-7C33-F963-2BA8-00832E06A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F82331-0F36-672D-4F93-BB9CE2CF9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2DED3D-5A46-2B5D-A4DF-A733E0E88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7EE119-77A1-008E-0E03-936A20E39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674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FC7E6-0A94-9002-F418-33F5FE304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7BA18D-C840-79F0-C8B6-4E5D252C0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3E4333-8A13-CB19-2A79-CF5F8CFA7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对喂食 CD 或 KD、并接受 DSS 处理的小鼠结肠组织进行了单细胞 RNA 测序</a:t>
            </a:r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1A2D93-67BF-54BC-09C8-A5D0CDD60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024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1B028-FE7F-902C-6F2A-03786927E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0E7724-0125-B9B7-D9A1-92B2B1427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83753C8-F749-B464-F3F2-85ED28636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CellPhoneDB是基于单细胞测序数据进行的</a:t>
            </a:r>
            <a:r>
              <a:rPr lang="zh-CN" altLang="zh-CN" b="1" dirty="0"/>
              <a:t>细胞间配体-受体通讯预测分析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基本逻辑是：</a:t>
            </a:r>
          </a:p>
          <a:p>
            <a:r>
              <a:rPr lang="zh-CN" altLang="zh-CN" dirty="0"/>
              <a:t>单细胞测序确定每种细胞表达哪些基因。</a:t>
            </a:r>
          </a:p>
          <a:p>
            <a:r>
              <a:rPr lang="zh-CN" altLang="zh-CN" dirty="0"/>
              <a:t>CellPhoneDB数据库提供已知的配体-受体组合。</a:t>
            </a:r>
          </a:p>
          <a:p>
            <a:r>
              <a:rPr lang="zh-CN" altLang="zh-CN" dirty="0"/>
              <a:t>检查一种细胞是否表达配体，另一种细胞是否表达对应受体。</a:t>
            </a:r>
          </a:p>
          <a:p>
            <a:r>
              <a:rPr lang="zh-CN" altLang="zh-CN" dirty="0"/>
              <a:t>通过随机置换细胞标签等统计方法，判断该组合是否具有细胞类型特异性。</a:t>
            </a:r>
          </a:p>
          <a:p>
            <a:r>
              <a:rPr lang="zh-CN" altLang="zh-CN" dirty="0"/>
              <a:t>推测哪些细胞之间可能存在信号交流。</a:t>
            </a:r>
          </a:p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A297E5-C48C-59A4-4E01-E2A767DCA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526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2ED09-DA2A-CD3E-8790-BDF08103C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D9FAA94-B8D1-EF14-F49D-5D73D61D1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DA8505-8C7A-7FF0-A274-B20BEB9AD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261698-3112-E26C-30F3-734D4E5D06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120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2B9D4-27AF-6274-CBD3-ADF55CC15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C74515-6481-72DF-FF84-A4B518457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C066F6-2E3B-60A6-76DE-4CBB9E7A8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C15110-07FF-3007-64F1-267AAC5893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452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EBA12-EB61-64EF-FFF3-ED225397E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A1DC66-C9B2-FA4C-3D0A-B236E356F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542E2B-1291-F39E-75FD-47092FC81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9D4CD9-FFE8-28BF-0126-CD931C036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0319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77F5F-C9D9-311C-6315-51601FB81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3153C5-8146-21EC-62BA-D028FD0F6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D5C95E-4A14-485F-EFC4-A707349FD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127067-70A0-DDFE-F6C7-FA537182F1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173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A7712-341F-A422-E321-0B89637B8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A1F4D7-01DE-4AB9-9B20-C4821299F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D7A8D3-70D0-8A24-BB43-A7E292AF7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143DAF-BB2C-AD0E-2D4F-D4EFFA46E3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7345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F89A4-E7E6-0136-FA7D-10A4CFF9D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713B0D-9AF4-11E3-67A9-8ECEBEC46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04D866-59FE-BD9D-3A5F-E3C3E7B32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FFA617-C1E5-5833-5BF2-B156E3CAF0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3774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C8221-770C-AF17-6B52-1F4C62EAB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5F140E-F3A1-70DA-B128-AE2011501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770647-D2C7-CA7B-592F-078510DE7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950"/>
              </a:lnSpc>
              <a:spcAft>
                <a:spcPts val="1200"/>
              </a:spcAft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2647CC-1D31-0127-06FE-DD51510AEC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9648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D2E8-55A3-4727-8486-ED905C8D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B04D61-118E-5E53-9550-E005A171A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BCDD75-2708-3810-0F94-EE5E57281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950"/>
              </a:lnSpc>
              <a:spcAft>
                <a:spcPts val="1200"/>
              </a:spcAft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800E5D-2865-0BBB-D8DB-7254A4F16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4388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16595-D4EF-CA49-9734-ED361F66F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89755B-E7AB-B2F0-13A3-1B90AE3EA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5B0ED0-F00A-07D6-83FC-466A17486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950"/>
              </a:lnSpc>
              <a:spcAft>
                <a:spcPts val="1200"/>
              </a:spcAft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24068D-D1AF-055C-2D45-139F95FAD7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8554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BC6A1-62B7-55B3-D09A-73ECA9A06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E46F33-A282-8AE8-130E-E9043AEA2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AD9330-065F-9909-AAE5-A7B5F9FF1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248536-D634-3C16-E8D7-4E973696B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34945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ACE03-4FCC-F7EF-5F45-0FC843DE3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6F2ED3-3EEC-671F-198E-9DA5E231C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574E45-E9C1-B9BF-996B-68E9A37A1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5D7C30-C629-5580-657A-8414094AB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892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092C1-EDF1-F5C5-CC26-2CA6507AC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905C37-25B6-173E-83D3-789FCA161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4F9A27-67CE-4929-CEDE-C3F62D48C5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4697E4-5517-E89E-5163-B69C7B2E1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4054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6D022-3C14-E9A3-FCDA-B758ADADC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519576A-C52A-CD19-C974-7BD56DE48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F1B83E-D6C1-703D-BABC-338737114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950"/>
              </a:lnSpc>
              <a:spcAft>
                <a:spcPts val="1200"/>
              </a:spcAft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67E2E1-004E-6CBF-35E1-9194F208CB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5421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88803-1870-3A41-6F18-3A9D30FB5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252996-AF6D-2240-0D10-E284E5968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4A957F-DE2A-AA28-1494-3200B995D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950"/>
              </a:lnSpc>
              <a:spcAft>
                <a:spcPts val="1200"/>
              </a:spcAft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73CC22-162B-A5D2-97F5-888011868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8926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BA8F0-7F26-B180-BF1F-A575E3166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72F2DE-E600-DD55-6452-E7850A2AC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C52EFE-472D-9D60-17E9-1FC163B77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436363-5C76-4AFE-930C-A8F569A270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8879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2A692-32D4-2A52-F68F-18EF6850A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AE3A24-829F-2F10-F952-37BC5F36D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4F8C3F-56CD-17C7-4435-67150C6B9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289A32-F498-1FC0-D925-DAABF6EDB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5045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243EF-EF3F-F5C9-F6CE-04CCD35E2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C74095-D797-1B13-31AB-8A31B0E23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D0ECBB-1323-D516-D03E-6B6D24755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598AFC-D50E-F4F6-C523-69B906230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7558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39227-B77E-D56E-4225-D68DCC8F1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567794-8CE1-554F-B92D-E6A0E8167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048292-150D-E4DA-627A-B8666CA44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4A7898-7A17-B62C-46EF-3B9BAF436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9186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D8CA9-9349-00BA-9A4A-495EB44BC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081C22-8EEB-1E19-EFD0-1ABEAA09F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0C200E-9714-5CEF-B1A4-125AEB1A6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CADD7F-B7C8-7DDE-5071-326879365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5234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E278A-1C74-3368-4CCC-EE2A8C0FD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F2D77A-04C8-B074-B5B5-B7507A47C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4E54F7-37B4-BE3C-D51C-B60065902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F17F9A-E5CB-58FA-379F-285C8F61C8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0464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B130B-1650-F92F-337A-66F03349E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0C65E9-CE81-765B-473A-6BD1F4C35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BAD30C-42D8-2026-84D0-4689AC5C9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396AF2-CAC4-1356-92DF-E9140DB32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6029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7E7C2-86CE-50D9-18AC-741848E6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3F5678-ED1F-7A09-2AF4-F778CD04D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A4DE8C-7BF4-0053-9B79-718ECB399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CD93AE-6F5F-037C-3D0E-BB5D964DE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047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696B2-50FF-C70E-7F81-CC621B8E1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F1C02CF-00BA-F6A6-0E72-67EAB82DC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C5832D9-1CF0-6304-CC61-7DB17932F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5115CD-2AD2-AD7D-288B-F55794192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3547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97FE6-C2C2-C3DD-EDA6-33F6D43F1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B439E1-1483-250F-F3D2-333D82053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455E1A-FC94-2CFF-0529-677F590F7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206E09-A68E-D2CF-0552-92DD9D5E1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5701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6CC16-854F-42A0-8EA3-004361198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176FB6-AEC8-247B-7C12-531E386F3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D2BAF5-135D-0D4E-9E9B-5152E8B39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BB4D2-61FF-7BA0-8A4A-7397DFC1C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D9B00-690C-4A03-956F-A252B802F2E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126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A0E7F-925E-4647-A2E8-4232227E8314}" type="datetimeFigureOut">
              <a:rPr lang="zh-CN" altLang="en-US" smtClean="0"/>
              <a:t>2026-07-02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695D-D402-4E60-B1C4-56C1DAB63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11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A0E7F-925E-4647-A2E8-4232227E8314}" type="datetimeFigureOut">
              <a:rPr lang="zh-CN" altLang="en-US" smtClean="0"/>
              <a:t>2026-07-02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695D-D402-4E60-B1C4-56C1DAB63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985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A0E7F-925E-4647-A2E8-4232227E8314}" type="datetimeFigureOut">
              <a:rPr lang="zh-CN" altLang="en-US" smtClean="0"/>
              <a:t>2026-07-02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695D-D402-4E60-B1C4-56C1DAB63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055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A0E7F-925E-4647-A2E8-4232227E8314}" type="datetimeFigureOut">
              <a:rPr lang="zh-CN" altLang="en-US" smtClean="0"/>
              <a:t>2026-07-02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695D-D402-4E60-B1C4-56C1DAB63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99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A0E7F-925E-4647-A2E8-4232227E8314}" type="datetimeFigureOut">
              <a:rPr lang="zh-CN" altLang="en-US" smtClean="0"/>
              <a:t>2026-07-02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695D-D402-4E60-B1C4-56C1DAB63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669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A0E7F-925E-4647-A2E8-4232227E8314}" type="datetimeFigureOut">
              <a:rPr lang="zh-CN" altLang="en-US" smtClean="0"/>
              <a:t>2026-07-02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695D-D402-4E60-B1C4-56C1DAB63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769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A0E7F-925E-4647-A2E8-4232227E8314}" type="datetimeFigureOut">
              <a:rPr lang="zh-CN" altLang="en-US" smtClean="0"/>
              <a:t>2026-07-02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695D-D402-4E60-B1C4-56C1DAB63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846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A0E7F-925E-4647-A2E8-4232227E8314}" type="datetimeFigureOut">
              <a:rPr lang="zh-CN" altLang="en-US" smtClean="0"/>
              <a:t>2026-07-02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695D-D402-4E60-B1C4-56C1DAB63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473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A0E7F-925E-4647-A2E8-4232227E8314}" type="datetimeFigureOut">
              <a:rPr lang="zh-CN" altLang="en-US" smtClean="0"/>
              <a:t>2026-07-02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695D-D402-4E60-B1C4-56C1DAB63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540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A0E7F-925E-4647-A2E8-4232227E8314}" type="datetimeFigureOut">
              <a:rPr lang="zh-CN" altLang="en-US" smtClean="0"/>
              <a:t>2026-07-02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695D-D402-4E60-B1C4-56C1DAB63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210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A0E7F-925E-4647-A2E8-4232227E8314}" type="datetimeFigureOut">
              <a:rPr lang="zh-CN" altLang="en-US" smtClean="0"/>
              <a:t>2026-07-02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695D-D402-4E60-B1C4-56C1DAB63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20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A0E7F-925E-4647-A2E8-4232227E8314}" type="datetimeFigureOut">
              <a:rPr lang="zh-CN" altLang="en-US" smtClean="0"/>
              <a:t>2026-07-02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D695D-D402-4E60-B1C4-56C1DAB63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270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82FCC0-4DD1-44CC-9E25-004C505AB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13" y="252689"/>
            <a:ext cx="8575773" cy="1275859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生酮饮食通过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羟基丁酸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螺旋形托马斯克拉维利亚菌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-γδ17 T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细胞轴在小鼠中加剧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DSS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诱导的结肠炎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709853-18B6-A19F-37A4-67C27A99A091}"/>
              </a:ext>
            </a:extLst>
          </p:cNvPr>
          <p:cNvSpPr txBox="1"/>
          <p:nvPr/>
        </p:nvSpPr>
        <p:spPr>
          <a:xfrm>
            <a:off x="6918158" y="6143635"/>
            <a:ext cx="2105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汇报人：胡庆林</a:t>
            </a:r>
            <a:endParaRPr lang="en-US" altLang="zh-CN" dirty="0"/>
          </a:p>
          <a:p>
            <a:fld id="{1146CD1C-8676-4B07-8E8A-C58547DF04F3}" type="datetime1">
              <a:rPr lang="zh-CN" altLang="zh-CN"/>
              <a:t>2026-07-02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FC93795-607B-288F-0C57-AF7E20E71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8192"/>
            <a:ext cx="9144000" cy="2681616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B148270-B188-6B67-99E6-C38EA8561991}"/>
              </a:ext>
            </a:extLst>
          </p:cNvPr>
          <p:cNvCxnSpPr>
            <a:cxnSpLocks/>
          </p:cNvCxnSpPr>
          <p:nvPr/>
        </p:nvCxnSpPr>
        <p:spPr>
          <a:xfrm>
            <a:off x="5180030" y="4678464"/>
            <a:ext cx="117110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01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D2F8D98-EBBA-3C2B-C553-F53BD0885E88}"/>
              </a:ext>
            </a:extLst>
          </p:cNvPr>
          <p:cNvSpPr/>
          <p:nvPr/>
        </p:nvSpPr>
        <p:spPr>
          <a:xfrm>
            <a:off x="233101" y="69605"/>
            <a:ext cx="2765234" cy="870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大通讯简介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30574BF-D348-6F8D-1C34-AE9E91027133}"/>
              </a:ext>
            </a:extLst>
          </p:cNvPr>
          <p:cNvSpPr txBox="1"/>
          <p:nvPr/>
        </p:nvSpPr>
        <p:spPr>
          <a:xfrm>
            <a:off x="2927663" y="1920007"/>
            <a:ext cx="4575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刘维薇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None/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上海中医药大学附属龙华医院检验科科主任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CDDE71B-306F-07BE-2ECB-6273CBD3F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13" y="2243173"/>
            <a:ext cx="1565671" cy="15595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8176BFC-EC7D-A479-4827-755CEF0B5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663" y="3343932"/>
            <a:ext cx="5779609" cy="45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900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08C5E-F705-BBEB-0190-1C84A3756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D2C155AC-7EFF-388A-492E-0739D83E6266}"/>
              </a:ext>
            </a:extLst>
          </p:cNvPr>
          <p:cNvSpPr txBox="1"/>
          <p:nvPr/>
        </p:nvSpPr>
        <p:spPr>
          <a:xfrm>
            <a:off x="0" y="1615879"/>
            <a:ext cx="914400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文章思路由来？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既往研究对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生酮饮食与结肠炎的关系得出了相反结论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：部分研究认为生酮饮食可通过改变肠道菌群、减少结肠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ILC3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等方式缓解急慢性结肠炎；另一些研究则发现，生酮饮食可能通过诱导细胞衰老、破坏黏液屏障和引起菌群失调而加重结肠炎。这些矛盾结果提示，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生酮饮食的免疫效应可能具有明显的生理状态和疾病背景依赖性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。然而，生酮饮食在健康肠道和黏膜损伤条件下是否产生不同作用，其效应是否由特定酮体介导，以及酮体如何通过肠道菌群与黏膜免疫系统发生联系，仍不清楚。作者由此提出核心科学问题：</a:t>
            </a:r>
            <a:endParaRPr lang="en-US" altLang="zh-C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32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生酮饮食在健康状态和肠黏膜损伤背景下分别如何影响结肠炎？其背后的“生酮代谢</a:t>
            </a:r>
            <a:r>
              <a:rPr lang="en-US" altLang="zh-CN" sz="32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32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肠道菌群</a:t>
            </a:r>
            <a:r>
              <a:rPr lang="en-US" altLang="zh-CN" sz="32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32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黏膜免疫”调控机制是什么？</a:t>
            </a:r>
            <a:endParaRPr lang="zh-CN" altLang="en-US" sz="32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82FC4B-B884-19E9-C48B-A3A7896B5373}"/>
              </a:ext>
            </a:extLst>
          </p:cNvPr>
          <p:cNvSpPr txBox="1"/>
          <p:nvPr/>
        </p:nvSpPr>
        <p:spPr>
          <a:xfrm>
            <a:off x="-54016" y="57331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highlight>
                  <a:srgbClr val="FFFF00"/>
                </a:highlight>
              </a:rPr>
              <a:t>文章思路由来？</a:t>
            </a:r>
          </a:p>
        </p:txBody>
      </p:sp>
    </p:spTree>
    <p:extLst>
      <p:ext uri="{BB962C8B-B14F-4D97-AF65-F5344CB8AC3E}">
        <p14:creationId xmlns:p14="http://schemas.microsoft.com/office/powerpoint/2010/main" val="918979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29148-D621-D1E0-C301-97D43D7AE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77079F0-0FD3-4B8D-1A77-8B1AF68289EE}"/>
              </a:ext>
            </a:extLst>
          </p:cNvPr>
          <p:cNvSpPr/>
          <p:nvPr/>
        </p:nvSpPr>
        <p:spPr>
          <a:xfrm>
            <a:off x="109782" y="114670"/>
            <a:ext cx="26597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文章主干思维导图</a:t>
            </a:r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917558C9-91A3-1667-9FC6-1E9B7525EEE9}"/>
              </a:ext>
            </a:extLst>
          </p:cNvPr>
          <p:cNvSpPr/>
          <p:nvPr/>
        </p:nvSpPr>
        <p:spPr>
          <a:xfrm>
            <a:off x="2661287" y="1989568"/>
            <a:ext cx="216393" cy="3424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1B29E34-1199-5E94-1613-03E0B59725E1}"/>
              </a:ext>
            </a:extLst>
          </p:cNvPr>
          <p:cNvSpPr txBox="1"/>
          <p:nvPr/>
        </p:nvSpPr>
        <p:spPr>
          <a:xfrm>
            <a:off x="5589754" y="735956"/>
            <a:ext cx="3367972" cy="73866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科学问题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：生酮饮食在健康和肠黏膜损伤状态下分别产生什么影响？造成其影响的关键免疫细胞和炎症因子是什么？</a:t>
            </a:r>
            <a:endParaRPr lang="zh-CN" altLang="en-US" sz="14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D3B115-CD44-9FCA-C8A6-68B4E6EEEA94}"/>
              </a:ext>
            </a:extLst>
          </p:cNvPr>
          <p:cNvSpPr txBox="1"/>
          <p:nvPr/>
        </p:nvSpPr>
        <p:spPr>
          <a:xfrm>
            <a:off x="5422625" y="1912812"/>
            <a:ext cx="3702229" cy="5232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科学问题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生酮饮食产生的哪种代谢物介导</a:t>
            </a: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γδ17 T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细胞反应和</a:t>
            </a: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IL-17A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依赖的结肠炎加重？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30DD42F-DF7D-E082-22FD-995427961BE0}"/>
              </a:ext>
            </a:extLst>
          </p:cNvPr>
          <p:cNvSpPr txBox="1"/>
          <p:nvPr/>
        </p:nvSpPr>
        <p:spPr>
          <a:xfrm>
            <a:off x="5657480" y="4541678"/>
            <a:ext cx="3486520" cy="73866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科学问题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l-GR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</a:t>
            </a: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HB-T. spiroformis-IL-17A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轴在人类</a:t>
            </a: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IBD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患者中是否存在，并具有怎样的疾病亚型特异性？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F7FB1E-6795-14DA-0583-6FD7119DBEB9}"/>
              </a:ext>
            </a:extLst>
          </p:cNvPr>
          <p:cNvSpPr txBox="1"/>
          <p:nvPr/>
        </p:nvSpPr>
        <p:spPr>
          <a:xfrm>
            <a:off x="194565" y="3600229"/>
            <a:ext cx="5469635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选择性促进</a:t>
            </a:r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165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扩增，该菌进一步诱导</a:t>
            </a:r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γδ17 T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细胞产生</a:t>
            </a:r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IL-17A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；其相对完整的细胞壁结构是关键，肽聚糖被作者推测为候选效应分子。</a:t>
            </a:r>
            <a:endParaRPr lang="zh-CN" altLang="en-US" sz="1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E736B7-DE3E-2BC8-89F0-D9A9B228A85E}"/>
              </a:ext>
            </a:extLst>
          </p:cNvPr>
          <p:cNvSpPr txBox="1"/>
          <p:nvPr/>
        </p:nvSpPr>
        <p:spPr>
          <a:xfrm>
            <a:off x="540023" y="1105288"/>
            <a:ext cx="4908277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KD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在健康肠道中不造成明显损伤，但在黏膜损伤背景下加重结肠炎，其关键免疫效应与</a:t>
            </a:r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γδ17 T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细胞扩增及</a:t>
            </a:r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IL-17A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升高有关。</a:t>
            </a:r>
            <a:endParaRPr lang="zh-CN" altLang="en-US" sz="165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5F4B6A3-F844-9585-B864-80EF0C06E798}"/>
              </a:ext>
            </a:extLst>
          </p:cNvPr>
          <p:cNvSpPr txBox="1"/>
          <p:nvPr/>
        </p:nvSpPr>
        <p:spPr>
          <a:xfrm>
            <a:off x="272738" y="2479716"/>
            <a:ext cx="531374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KD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诱导的</a:t>
            </a:r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是关键候选代谢介质；提高</a:t>
            </a:r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可模拟</a:t>
            </a:r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KD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效应，降低</a:t>
            </a:r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则可缓解结肠炎。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D454CFF-8623-2F71-6A0C-93E245910717}"/>
              </a:ext>
            </a:extLst>
          </p:cNvPr>
          <p:cNvSpPr txBox="1"/>
          <p:nvPr/>
        </p:nvSpPr>
        <p:spPr>
          <a:xfrm>
            <a:off x="5686989" y="3009593"/>
            <a:ext cx="3330727" cy="5232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科学问题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如何促进</a:t>
            </a: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γδ17 T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细胞分化？</a:t>
            </a:r>
            <a:endParaRPr lang="zh-CN" altLang="en-US" sz="1400" dirty="0"/>
          </a:p>
        </p:txBody>
      </p:sp>
      <p:sp>
        <p:nvSpPr>
          <p:cNvPr id="27" name="箭头: 下 26">
            <a:extLst>
              <a:ext uri="{FF2B5EF4-FFF2-40B4-BE49-F238E27FC236}">
                <a16:creationId xmlns:a16="http://schemas.microsoft.com/office/drawing/2014/main" id="{3CC4730C-6650-DE26-5C5C-A850E4E739FC}"/>
              </a:ext>
            </a:extLst>
          </p:cNvPr>
          <p:cNvSpPr/>
          <p:nvPr/>
        </p:nvSpPr>
        <p:spPr>
          <a:xfrm>
            <a:off x="2673981" y="3253332"/>
            <a:ext cx="216393" cy="3424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28" name="箭头: 下 27">
            <a:extLst>
              <a:ext uri="{FF2B5EF4-FFF2-40B4-BE49-F238E27FC236}">
                <a16:creationId xmlns:a16="http://schemas.microsoft.com/office/drawing/2014/main" id="{237427A5-533C-C19E-F0C2-3AAA08107697}"/>
              </a:ext>
            </a:extLst>
          </p:cNvPr>
          <p:cNvSpPr/>
          <p:nvPr/>
        </p:nvSpPr>
        <p:spPr>
          <a:xfrm>
            <a:off x="2673982" y="4684873"/>
            <a:ext cx="216393" cy="3424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EA69EF-7A1F-9F9D-58A2-B31481D77FA0}"/>
              </a:ext>
            </a:extLst>
          </p:cNvPr>
          <p:cNvSpPr txBox="1"/>
          <p:nvPr/>
        </p:nvSpPr>
        <p:spPr>
          <a:xfrm>
            <a:off x="223031" y="5003925"/>
            <a:ext cx="53634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该轴在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UC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患者中表现出显著相关性，但在克罗恩病患者中不明显，提示其可能是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UC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特异性的病理通路。</a:t>
            </a:r>
          </a:p>
        </p:txBody>
      </p:sp>
    </p:spTree>
    <p:extLst>
      <p:ext uri="{BB962C8B-B14F-4D97-AF65-F5344CB8AC3E}">
        <p14:creationId xmlns:p14="http://schemas.microsoft.com/office/powerpoint/2010/main" val="1079796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04E6F-0D2D-A7AB-7D66-CABBB2E2D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D0552-058D-896B-3BD4-9476CE65E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360" y="2600875"/>
            <a:ext cx="8452522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科学问题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：生酮饮食在健康和肠黏膜损伤状态下分别产生什么影响？造成其影响的关键免疫细胞和炎症因子是什么？</a:t>
            </a:r>
          </a:p>
        </p:txBody>
      </p:sp>
    </p:spTree>
    <p:extLst>
      <p:ext uri="{BB962C8B-B14F-4D97-AF65-F5344CB8AC3E}">
        <p14:creationId xmlns:p14="http://schemas.microsoft.com/office/powerpoint/2010/main" val="1846191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B3CEDB18-D2AA-9708-80F4-DD4595A3E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64" y="5560394"/>
            <a:ext cx="1578946" cy="129760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0B69069-FB36-BD4C-D820-D6C093AC5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68" y="452507"/>
            <a:ext cx="6511522" cy="513808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AB95FE3-8BA1-4EDC-BDD8-E1DDABDC58EC}"/>
              </a:ext>
            </a:extLst>
          </p:cNvPr>
          <p:cNvSpPr txBox="1"/>
          <p:nvPr/>
        </p:nvSpPr>
        <p:spPr>
          <a:xfrm>
            <a:off x="172764" y="96761"/>
            <a:ext cx="9100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Figure 1. KD aggravates colitis progression in the presence of intestinal mucosal disruption.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9C2C85-C491-3393-B830-4FA84B28CD53}"/>
              </a:ext>
            </a:extLst>
          </p:cNvPr>
          <p:cNvSpPr txBox="1"/>
          <p:nvPr/>
        </p:nvSpPr>
        <p:spPr>
          <a:xfrm>
            <a:off x="6513607" y="1379925"/>
            <a:ext cx="2630394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highlight>
                  <a:srgbClr val="FFFF00"/>
                </a:highlight>
              </a:rPr>
              <a:t>a</a:t>
            </a:r>
            <a:r>
              <a:rPr lang="zh-CN" altLang="en-US" sz="1100" dirty="0">
                <a:highlight>
                  <a:srgbClr val="FFFF00"/>
                </a:highlight>
              </a:rPr>
              <a:t>，实验流程示意图。野生型</a:t>
            </a:r>
            <a:r>
              <a:rPr lang="en-US" altLang="zh-CN" sz="1100" dirty="0">
                <a:highlight>
                  <a:srgbClr val="FFFF00"/>
                </a:highlight>
              </a:rPr>
              <a:t>C57BL/6JNarl</a:t>
            </a:r>
            <a:r>
              <a:rPr lang="zh-CN" altLang="en-US" sz="1100" dirty="0">
                <a:highlight>
                  <a:srgbClr val="FFFF00"/>
                </a:highlight>
              </a:rPr>
              <a:t>小鼠分别喂食对照饮食（</a:t>
            </a:r>
            <a:r>
              <a:rPr lang="en-US" altLang="zh-CN" sz="1100" dirty="0">
                <a:highlight>
                  <a:srgbClr val="FFFF00"/>
                </a:highlight>
              </a:rPr>
              <a:t>CD</a:t>
            </a:r>
            <a:r>
              <a:rPr lang="zh-CN" altLang="en-US" sz="1100" dirty="0">
                <a:highlight>
                  <a:srgbClr val="FFFF00"/>
                </a:highlight>
              </a:rPr>
              <a:t>）或生酮饮食（</a:t>
            </a:r>
            <a:r>
              <a:rPr lang="en-US" altLang="zh-CN" sz="1100" dirty="0">
                <a:highlight>
                  <a:srgbClr val="FFFF00"/>
                </a:highlight>
              </a:rPr>
              <a:t>KD</a:t>
            </a:r>
            <a:r>
              <a:rPr lang="zh-CN" altLang="en-US" sz="1100" dirty="0">
                <a:highlight>
                  <a:srgbClr val="FFFF00"/>
                </a:highlight>
              </a:rPr>
              <a:t>）</a:t>
            </a:r>
            <a:r>
              <a:rPr lang="en-US" altLang="zh-CN" sz="1100" dirty="0">
                <a:highlight>
                  <a:srgbClr val="FFFF00"/>
                </a:highlight>
              </a:rPr>
              <a:t>7</a:t>
            </a:r>
            <a:r>
              <a:rPr lang="zh-CN" altLang="en-US" sz="1100" dirty="0">
                <a:highlight>
                  <a:srgbClr val="FFFF00"/>
                </a:highlight>
              </a:rPr>
              <a:t>天。</a:t>
            </a:r>
            <a:endParaRPr lang="en-US" altLang="zh-CN" sz="1100" dirty="0">
              <a:highlight>
                <a:srgbClr val="FFFF00"/>
              </a:highlight>
            </a:endParaRPr>
          </a:p>
          <a:p>
            <a:r>
              <a:rPr lang="en-US" altLang="zh-CN" sz="1100" dirty="0">
                <a:highlight>
                  <a:srgbClr val="FFFF00"/>
                </a:highlight>
              </a:rPr>
              <a:t>b</a:t>
            </a:r>
            <a:r>
              <a:rPr lang="zh-CN" altLang="en-US" sz="1100" dirty="0">
                <a:highlight>
                  <a:srgbClr val="FFFF00"/>
                </a:highlight>
              </a:rPr>
              <a:t>，体重下降情况（</a:t>
            </a:r>
            <a:r>
              <a:rPr lang="en-US" altLang="zh-CN" sz="1100" dirty="0">
                <a:highlight>
                  <a:srgbClr val="FFFF00"/>
                </a:highlight>
              </a:rPr>
              <a:t>n=8</a:t>
            </a:r>
            <a:r>
              <a:rPr lang="zh-CN" altLang="en-US" sz="1100" dirty="0">
                <a:highlight>
                  <a:srgbClr val="FFFF00"/>
                </a:highlight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</a:rPr>
              <a:t>/</a:t>
            </a:r>
            <a:r>
              <a:rPr lang="zh-CN" altLang="en-US" sz="1100" dirty="0">
                <a:highlight>
                  <a:srgbClr val="FFFF00"/>
                </a:highlight>
              </a:rPr>
              <a:t>组）。</a:t>
            </a:r>
            <a:endParaRPr lang="en-US" altLang="zh-CN" sz="1100" dirty="0">
              <a:highlight>
                <a:srgbClr val="FFFF00"/>
              </a:highlight>
            </a:endParaRPr>
          </a:p>
          <a:p>
            <a:r>
              <a:rPr lang="en-US" altLang="zh-CN" sz="1100" dirty="0">
                <a:highlight>
                  <a:srgbClr val="FFFF00"/>
                </a:highlight>
              </a:rPr>
              <a:t>c</a:t>
            </a:r>
            <a:r>
              <a:rPr lang="zh-CN" altLang="en-US" sz="1100" dirty="0">
                <a:highlight>
                  <a:srgbClr val="FFFF00"/>
                </a:highlight>
              </a:rPr>
              <a:t>，结肠长度（</a:t>
            </a:r>
            <a:r>
              <a:rPr lang="en-US" altLang="zh-CN" sz="1100" dirty="0">
                <a:highlight>
                  <a:srgbClr val="FFFF00"/>
                </a:highlight>
              </a:rPr>
              <a:t>n=8</a:t>
            </a:r>
            <a:r>
              <a:rPr lang="zh-CN" altLang="en-US" sz="1100" dirty="0">
                <a:highlight>
                  <a:srgbClr val="FFFF00"/>
                </a:highlight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</a:rPr>
              <a:t>/</a:t>
            </a:r>
            <a:r>
              <a:rPr lang="zh-CN" altLang="en-US" sz="1100" dirty="0">
                <a:highlight>
                  <a:srgbClr val="FFFF00"/>
                </a:highlight>
              </a:rPr>
              <a:t>组）。</a:t>
            </a:r>
            <a:endParaRPr lang="en-US" altLang="zh-CN" sz="1100" dirty="0">
              <a:highlight>
                <a:srgbClr val="FFFF00"/>
              </a:highlight>
            </a:endParaRPr>
          </a:p>
          <a:p>
            <a:r>
              <a:rPr lang="en-US" altLang="zh-CN" sz="1100" dirty="0">
                <a:highlight>
                  <a:srgbClr val="FFFF00"/>
                </a:highlight>
              </a:rPr>
              <a:t>d</a:t>
            </a:r>
            <a:r>
              <a:rPr lang="zh-CN" altLang="en-US" sz="1100" dirty="0">
                <a:highlight>
                  <a:srgbClr val="FFFF00"/>
                </a:highlight>
              </a:rPr>
              <a:t>，结肠组织</a:t>
            </a:r>
            <a:r>
              <a:rPr lang="en-US" altLang="zh-CN" sz="1100" dirty="0">
                <a:highlight>
                  <a:srgbClr val="FFFF00"/>
                </a:highlight>
              </a:rPr>
              <a:t>H&amp;E</a:t>
            </a:r>
            <a:r>
              <a:rPr lang="zh-CN" altLang="en-US" sz="1100" dirty="0">
                <a:highlight>
                  <a:srgbClr val="FFFF00"/>
                </a:highlight>
              </a:rPr>
              <a:t>、</a:t>
            </a:r>
            <a:r>
              <a:rPr lang="en-US" altLang="zh-CN" sz="1100" dirty="0">
                <a:highlight>
                  <a:srgbClr val="FFFF00"/>
                </a:highlight>
              </a:rPr>
              <a:t>PAS</a:t>
            </a:r>
            <a:r>
              <a:rPr lang="zh-CN" altLang="en-US" sz="1100" dirty="0">
                <a:highlight>
                  <a:srgbClr val="FFFF00"/>
                </a:highlight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</a:rPr>
              <a:t>MUC2</a:t>
            </a:r>
            <a:r>
              <a:rPr lang="zh-CN" altLang="en-US" sz="1100" dirty="0">
                <a:highlight>
                  <a:srgbClr val="FFFF00"/>
                </a:highlight>
              </a:rPr>
              <a:t>染色代表图（比例尺：</a:t>
            </a:r>
            <a:r>
              <a:rPr lang="en-US" altLang="zh-CN" sz="1100" dirty="0">
                <a:highlight>
                  <a:srgbClr val="FFFF00"/>
                </a:highlight>
              </a:rPr>
              <a:t>300 </a:t>
            </a:r>
            <a:r>
              <a:rPr lang="en-US" altLang="zh-CN" sz="1100" dirty="0" err="1">
                <a:highlight>
                  <a:srgbClr val="FFFF00"/>
                </a:highlight>
              </a:rPr>
              <a:t>μm</a:t>
            </a:r>
            <a:r>
              <a:rPr lang="zh-CN" altLang="en-US" sz="1100" dirty="0">
                <a:highlight>
                  <a:srgbClr val="FFFF00"/>
                </a:highlight>
              </a:rPr>
              <a:t>），以及</a:t>
            </a:r>
            <a:r>
              <a:rPr lang="en-US" altLang="zh-CN" sz="1100" dirty="0">
                <a:highlight>
                  <a:srgbClr val="FFFF00"/>
                </a:highlight>
              </a:rPr>
              <a:t>PAS</a:t>
            </a:r>
            <a:r>
              <a:rPr lang="zh-CN" altLang="en-US" sz="1100" dirty="0">
                <a:highlight>
                  <a:srgbClr val="FFFF00"/>
                </a:highlight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</a:rPr>
              <a:t>MUC2</a:t>
            </a:r>
            <a:r>
              <a:rPr lang="zh-CN" altLang="en-US" sz="1100" dirty="0">
                <a:highlight>
                  <a:srgbClr val="FFFF00"/>
                </a:highlight>
              </a:rPr>
              <a:t>阳性面积定量（</a:t>
            </a:r>
            <a:r>
              <a:rPr lang="en-US" altLang="zh-CN" sz="1100" dirty="0">
                <a:highlight>
                  <a:srgbClr val="FFFF00"/>
                </a:highlight>
              </a:rPr>
              <a:t>n=8</a:t>
            </a:r>
            <a:r>
              <a:rPr lang="zh-CN" altLang="en-US" sz="1100" dirty="0">
                <a:highlight>
                  <a:srgbClr val="FFFF00"/>
                </a:highlight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</a:rPr>
              <a:t>/</a:t>
            </a:r>
            <a:r>
              <a:rPr lang="zh-CN" altLang="en-US" sz="1100" dirty="0">
                <a:highlight>
                  <a:srgbClr val="FFFF00"/>
                </a:highlight>
              </a:rPr>
              <a:t>组）。</a:t>
            </a:r>
            <a:endParaRPr lang="en-US" altLang="zh-CN" sz="1100" dirty="0">
              <a:highlight>
                <a:srgbClr val="FFFF00"/>
              </a:highlight>
            </a:endParaRPr>
          </a:p>
          <a:p>
            <a:r>
              <a:rPr lang="en-US" altLang="zh-CN" sz="1100" dirty="0">
                <a:highlight>
                  <a:srgbClr val="FFFF00"/>
                </a:highlight>
              </a:rPr>
              <a:t>e</a:t>
            </a:r>
            <a:r>
              <a:rPr lang="zh-CN" altLang="en-US" sz="1100" dirty="0">
                <a:highlight>
                  <a:srgbClr val="FFFF00"/>
                </a:highlight>
              </a:rPr>
              <a:t>，结肠组织中</a:t>
            </a:r>
            <a:r>
              <a:rPr lang="en-US" altLang="zh-CN" sz="1100" dirty="0" err="1">
                <a:highlight>
                  <a:srgbClr val="FFFF00"/>
                </a:highlight>
              </a:rPr>
              <a:t>Tnf</a:t>
            </a:r>
            <a:r>
              <a:rPr lang="zh-CN" altLang="en-US" sz="1100" dirty="0">
                <a:highlight>
                  <a:srgbClr val="FFFF00"/>
                </a:highlight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</a:rPr>
              <a:t>Il17a</a:t>
            </a:r>
            <a:r>
              <a:rPr lang="zh-CN" altLang="en-US" sz="1100" dirty="0">
                <a:highlight>
                  <a:srgbClr val="FFFF00"/>
                </a:highlight>
              </a:rPr>
              <a:t>的相对表达量（</a:t>
            </a:r>
            <a:r>
              <a:rPr lang="en-US" altLang="zh-CN" sz="1100" dirty="0">
                <a:highlight>
                  <a:srgbClr val="FFFF00"/>
                </a:highlight>
              </a:rPr>
              <a:t>n=8</a:t>
            </a:r>
            <a:r>
              <a:rPr lang="zh-CN" altLang="en-US" sz="1100" dirty="0">
                <a:highlight>
                  <a:srgbClr val="FFFF00"/>
                </a:highlight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</a:rPr>
              <a:t>/</a:t>
            </a:r>
            <a:r>
              <a:rPr lang="zh-CN" altLang="en-US" sz="1100" dirty="0">
                <a:highlight>
                  <a:srgbClr val="FFFF00"/>
                </a:highlight>
              </a:rPr>
              <a:t>组）。</a:t>
            </a:r>
            <a:endParaRPr lang="en-US" altLang="zh-CN" sz="1100" dirty="0">
              <a:highlight>
                <a:srgbClr val="FFFF00"/>
              </a:highlight>
            </a:endParaRPr>
          </a:p>
          <a:p>
            <a:r>
              <a:rPr lang="en-US" altLang="zh-CN" sz="1100" dirty="0">
                <a:highlight>
                  <a:srgbClr val="FFFF00"/>
                </a:highlight>
              </a:rPr>
              <a:t>f</a:t>
            </a:r>
            <a:r>
              <a:rPr lang="zh-CN" altLang="en-US" sz="1100" dirty="0">
                <a:highlight>
                  <a:srgbClr val="FFFF00"/>
                </a:highlight>
              </a:rPr>
              <a:t>，实验流程示意图。小鼠接受</a:t>
            </a:r>
            <a:r>
              <a:rPr lang="en-US" altLang="zh-CN" sz="1100" dirty="0">
                <a:highlight>
                  <a:srgbClr val="FFFF00"/>
                </a:highlight>
              </a:rPr>
              <a:t>2.5% DSS</a:t>
            </a:r>
            <a:r>
              <a:rPr lang="zh-CN" altLang="en-US" sz="1100" dirty="0">
                <a:highlight>
                  <a:srgbClr val="FFFF00"/>
                </a:highlight>
              </a:rPr>
              <a:t>处理，同时喂食</a:t>
            </a:r>
            <a:r>
              <a:rPr lang="en-US" altLang="zh-CN" sz="1100" dirty="0">
                <a:highlight>
                  <a:srgbClr val="FFFF00"/>
                </a:highlight>
              </a:rPr>
              <a:t>CD</a:t>
            </a:r>
            <a:r>
              <a:rPr lang="zh-CN" altLang="en-US" sz="1100" dirty="0">
                <a:highlight>
                  <a:srgbClr val="FFFF00"/>
                </a:highlight>
              </a:rPr>
              <a:t>或</a:t>
            </a:r>
            <a:r>
              <a:rPr lang="en-US" altLang="zh-CN" sz="1100" dirty="0">
                <a:highlight>
                  <a:srgbClr val="FFFF00"/>
                </a:highlight>
              </a:rPr>
              <a:t>KD</a:t>
            </a:r>
            <a:r>
              <a:rPr lang="zh-CN" altLang="en-US" sz="1100" dirty="0">
                <a:highlight>
                  <a:srgbClr val="FFFF00"/>
                </a:highlight>
              </a:rPr>
              <a:t>，连续</a:t>
            </a:r>
            <a:r>
              <a:rPr lang="en-US" altLang="zh-CN" sz="1100" dirty="0">
                <a:highlight>
                  <a:srgbClr val="FFFF00"/>
                </a:highlight>
              </a:rPr>
              <a:t>7</a:t>
            </a:r>
            <a:r>
              <a:rPr lang="zh-CN" altLang="en-US" sz="1100" dirty="0">
                <a:highlight>
                  <a:srgbClr val="FFFF00"/>
                </a:highlight>
              </a:rPr>
              <a:t>天，以诱导结肠炎。</a:t>
            </a:r>
            <a:endParaRPr lang="en-US" altLang="zh-CN" sz="1100" dirty="0">
              <a:highlight>
                <a:srgbClr val="FFFF00"/>
              </a:highlight>
            </a:endParaRPr>
          </a:p>
          <a:p>
            <a:r>
              <a:rPr lang="en-US" altLang="zh-CN" sz="1100" dirty="0">
                <a:highlight>
                  <a:srgbClr val="FFFF00"/>
                </a:highlight>
              </a:rPr>
              <a:t>g</a:t>
            </a:r>
            <a:r>
              <a:rPr lang="zh-CN" altLang="en-US" sz="1100" dirty="0">
                <a:highlight>
                  <a:srgbClr val="FFFF00"/>
                </a:highlight>
              </a:rPr>
              <a:t>，体重下降、粪便稠度指数和直肠出血指数（</a:t>
            </a:r>
            <a:r>
              <a:rPr lang="en-US" altLang="zh-CN" sz="1100" dirty="0">
                <a:highlight>
                  <a:srgbClr val="FFFF00"/>
                </a:highlight>
              </a:rPr>
              <a:t>n=12</a:t>
            </a:r>
            <a:r>
              <a:rPr lang="zh-CN" altLang="en-US" sz="1100" dirty="0">
                <a:highlight>
                  <a:srgbClr val="FFFF00"/>
                </a:highlight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</a:rPr>
              <a:t>/</a:t>
            </a:r>
            <a:r>
              <a:rPr lang="zh-CN" altLang="en-US" sz="1100" dirty="0">
                <a:highlight>
                  <a:srgbClr val="FFFF00"/>
                </a:highlight>
              </a:rPr>
              <a:t>组）。</a:t>
            </a:r>
            <a:endParaRPr lang="en-US" altLang="zh-CN" sz="1100" dirty="0">
              <a:highlight>
                <a:srgbClr val="FFFF00"/>
              </a:highlight>
            </a:endParaRPr>
          </a:p>
          <a:p>
            <a:r>
              <a:rPr lang="en-US" altLang="zh-CN" sz="1100" dirty="0">
                <a:highlight>
                  <a:srgbClr val="FFFF00"/>
                </a:highlight>
              </a:rPr>
              <a:t>h</a:t>
            </a:r>
            <a:r>
              <a:rPr lang="zh-CN" altLang="en-US" sz="1100" dirty="0">
                <a:highlight>
                  <a:srgbClr val="FFFF00"/>
                </a:highlight>
              </a:rPr>
              <a:t>，疾病活动指数（</a:t>
            </a:r>
            <a:r>
              <a:rPr lang="en-US" altLang="zh-CN" sz="1100" dirty="0">
                <a:highlight>
                  <a:srgbClr val="FFFF00"/>
                </a:highlight>
              </a:rPr>
              <a:t>DAI</a:t>
            </a:r>
            <a:r>
              <a:rPr lang="zh-CN" altLang="en-US" sz="1100" dirty="0">
                <a:highlight>
                  <a:srgbClr val="FFFF00"/>
                </a:highlight>
              </a:rPr>
              <a:t>，</a:t>
            </a:r>
            <a:r>
              <a:rPr lang="en-US" altLang="zh-CN" sz="1100" dirty="0">
                <a:highlight>
                  <a:srgbClr val="FFFF00"/>
                </a:highlight>
              </a:rPr>
              <a:t>n=12</a:t>
            </a:r>
            <a:r>
              <a:rPr lang="zh-CN" altLang="en-US" sz="1100" dirty="0">
                <a:highlight>
                  <a:srgbClr val="FFFF00"/>
                </a:highlight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</a:rPr>
              <a:t>/</a:t>
            </a:r>
            <a:r>
              <a:rPr lang="zh-CN" altLang="en-US" sz="1100" dirty="0">
                <a:highlight>
                  <a:srgbClr val="FFFF00"/>
                </a:highlight>
              </a:rPr>
              <a:t>组）。</a:t>
            </a:r>
            <a:endParaRPr lang="en-US" altLang="zh-CN" sz="1100" dirty="0">
              <a:highlight>
                <a:srgbClr val="FFFF00"/>
              </a:highlight>
            </a:endParaRPr>
          </a:p>
          <a:p>
            <a:r>
              <a:rPr lang="en-US" altLang="zh-CN" sz="1100" dirty="0" err="1">
                <a:highlight>
                  <a:srgbClr val="FFFF00"/>
                </a:highlight>
              </a:rPr>
              <a:t>i</a:t>
            </a:r>
            <a:r>
              <a:rPr lang="zh-CN" altLang="en-US" sz="1100" dirty="0">
                <a:highlight>
                  <a:srgbClr val="FFFF00"/>
                </a:highlight>
              </a:rPr>
              <a:t>，结肠长度（</a:t>
            </a:r>
            <a:r>
              <a:rPr lang="en-US" altLang="zh-CN" sz="1100" dirty="0">
                <a:highlight>
                  <a:srgbClr val="FFFF00"/>
                </a:highlight>
              </a:rPr>
              <a:t>n=12</a:t>
            </a:r>
            <a:r>
              <a:rPr lang="zh-CN" altLang="en-US" sz="1100" dirty="0">
                <a:highlight>
                  <a:srgbClr val="FFFF00"/>
                </a:highlight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</a:rPr>
              <a:t>/</a:t>
            </a:r>
            <a:r>
              <a:rPr lang="zh-CN" altLang="en-US" sz="1100" dirty="0">
                <a:highlight>
                  <a:srgbClr val="FFFF00"/>
                </a:highlight>
              </a:rPr>
              <a:t>组）。</a:t>
            </a:r>
            <a:endParaRPr lang="en-US" altLang="zh-CN" sz="1100" dirty="0">
              <a:highlight>
                <a:srgbClr val="FFFF00"/>
              </a:highlight>
            </a:endParaRPr>
          </a:p>
          <a:p>
            <a:r>
              <a:rPr lang="en-US" altLang="zh-CN" sz="1100" dirty="0">
                <a:highlight>
                  <a:srgbClr val="FFFF00"/>
                </a:highlight>
              </a:rPr>
              <a:t>j</a:t>
            </a:r>
            <a:r>
              <a:rPr lang="zh-CN" altLang="en-US" sz="1100" dirty="0">
                <a:highlight>
                  <a:srgbClr val="FFFF00"/>
                </a:highlight>
              </a:rPr>
              <a:t>，结肠组织</a:t>
            </a:r>
            <a:r>
              <a:rPr lang="en-US" altLang="zh-CN" sz="1100" dirty="0">
                <a:highlight>
                  <a:srgbClr val="FFFF00"/>
                </a:highlight>
              </a:rPr>
              <a:t>H&amp;E</a:t>
            </a:r>
            <a:r>
              <a:rPr lang="zh-CN" altLang="en-US" sz="1100" dirty="0">
                <a:highlight>
                  <a:srgbClr val="FFFF00"/>
                </a:highlight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</a:rPr>
              <a:t>PAS</a:t>
            </a:r>
            <a:r>
              <a:rPr lang="zh-CN" altLang="en-US" sz="1100" dirty="0">
                <a:highlight>
                  <a:srgbClr val="FFFF00"/>
                </a:highlight>
              </a:rPr>
              <a:t>染色代表图（比例尺：</a:t>
            </a:r>
            <a:r>
              <a:rPr lang="en-US" altLang="zh-CN" sz="1100" dirty="0">
                <a:highlight>
                  <a:srgbClr val="FFFF00"/>
                </a:highlight>
              </a:rPr>
              <a:t>300 </a:t>
            </a:r>
            <a:r>
              <a:rPr lang="en-US" altLang="zh-CN" sz="1100" dirty="0" err="1">
                <a:highlight>
                  <a:srgbClr val="FFFF00"/>
                </a:highlight>
              </a:rPr>
              <a:t>μm</a:t>
            </a:r>
            <a:r>
              <a:rPr lang="zh-CN" altLang="en-US" sz="1100" dirty="0">
                <a:highlight>
                  <a:srgbClr val="FFFF00"/>
                </a:highlight>
              </a:rPr>
              <a:t>），以及组织学评分和</a:t>
            </a:r>
            <a:r>
              <a:rPr lang="en-US" altLang="zh-CN" sz="1100" dirty="0">
                <a:highlight>
                  <a:srgbClr val="FFFF00"/>
                </a:highlight>
              </a:rPr>
              <a:t>PAS</a:t>
            </a:r>
            <a:r>
              <a:rPr lang="zh-CN" altLang="en-US" sz="1100" dirty="0">
                <a:highlight>
                  <a:srgbClr val="FFFF00"/>
                </a:highlight>
              </a:rPr>
              <a:t>阳性面积定量（</a:t>
            </a:r>
            <a:r>
              <a:rPr lang="en-US" altLang="zh-CN" sz="1100" dirty="0">
                <a:highlight>
                  <a:srgbClr val="FFFF00"/>
                </a:highlight>
              </a:rPr>
              <a:t>n=12</a:t>
            </a:r>
            <a:r>
              <a:rPr lang="zh-CN" altLang="en-US" sz="1100" dirty="0">
                <a:highlight>
                  <a:srgbClr val="FFFF00"/>
                </a:highlight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</a:rPr>
              <a:t>/</a:t>
            </a:r>
            <a:r>
              <a:rPr lang="zh-CN" altLang="en-US" sz="1100" dirty="0">
                <a:highlight>
                  <a:srgbClr val="FFFF00"/>
                </a:highlight>
              </a:rPr>
              <a:t>组）。</a:t>
            </a:r>
            <a:endParaRPr lang="en-US" altLang="zh-CN" sz="1100" dirty="0">
              <a:highlight>
                <a:srgbClr val="FFFF00"/>
              </a:highlight>
            </a:endParaRPr>
          </a:p>
          <a:p>
            <a:r>
              <a:rPr lang="en-US" altLang="zh-CN" sz="1100" dirty="0">
                <a:highlight>
                  <a:srgbClr val="FFFF00"/>
                </a:highlight>
              </a:rPr>
              <a:t>k</a:t>
            </a:r>
            <a:r>
              <a:rPr lang="zh-CN" altLang="en-US" sz="1100" dirty="0">
                <a:highlight>
                  <a:srgbClr val="FFFF00"/>
                </a:highlight>
              </a:rPr>
              <a:t>，肠上皮层透射电子显微镜代表图（比例尺：</a:t>
            </a:r>
            <a:r>
              <a:rPr lang="en-US" altLang="zh-CN" sz="1100" dirty="0">
                <a:highlight>
                  <a:srgbClr val="FFFF00"/>
                </a:highlight>
              </a:rPr>
              <a:t>1.0 </a:t>
            </a:r>
            <a:r>
              <a:rPr lang="en-US" altLang="zh-CN" sz="1100" dirty="0" err="1">
                <a:highlight>
                  <a:srgbClr val="FFFF00"/>
                </a:highlight>
              </a:rPr>
              <a:t>μm</a:t>
            </a:r>
            <a:r>
              <a:rPr lang="zh-CN" altLang="en-US" sz="1100" dirty="0">
                <a:highlight>
                  <a:srgbClr val="FFFF00"/>
                </a:highlight>
              </a:rPr>
              <a:t>，</a:t>
            </a:r>
            <a:r>
              <a:rPr lang="en-US" altLang="zh-CN" sz="1100" dirty="0">
                <a:highlight>
                  <a:srgbClr val="FFFF00"/>
                </a:highlight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</a:rPr>
              <a:t>/</a:t>
            </a:r>
            <a:r>
              <a:rPr lang="zh-CN" altLang="en-US" sz="1100" dirty="0">
                <a:highlight>
                  <a:srgbClr val="FFFF00"/>
                </a:highlight>
              </a:rPr>
              <a:t>组）。</a:t>
            </a:r>
            <a:endParaRPr lang="en-US" altLang="zh-CN" sz="1100" dirty="0">
              <a:highlight>
                <a:srgbClr val="FFFF00"/>
              </a:highlight>
            </a:endParaRPr>
          </a:p>
          <a:p>
            <a:r>
              <a:rPr lang="en-US" altLang="zh-CN" sz="1100" dirty="0">
                <a:highlight>
                  <a:srgbClr val="FFFF00"/>
                </a:highlight>
              </a:rPr>
              <a:t>l</a:t>
            </a:r>
            <a:r>
              <a:rPr lang="zh-CN" altLang="en-US" sz="1100" dirty="0">
                <a:highlight>
                  <a:srgbClr val="FFFF00"/>
                </a:highlight>
              </a:rPr>
              <a:t>，血清</a:t>
            </a:r>
            <a:r>
              <a:rPr lang="en-US" altLang="zh-CN" sz="1100" dirty="0">
                <a:highlight>
                  <a:srgbClr val="FFFF00"/>
                </a:highlight>
              </a:rPr>
              <a:t>FITC-</a:t>
            </a:r>
            <a:r>
              <a:rPr lang="zh-CN" altLang="en-US" sz="1100" dirty="0">
                <a:highlight>
                  <a:srgbClr val="FFFF00"/>
                </a:highlight>
              </a:rPr>
              <a:t>葡聚糖水平（</a:t>
            </a:r>
            <a:r>
              <a:rPr lang="en-US" altLang="zh-CN" sz="1100" dirty="0">
                <a:highlight>
                  <a:srgbClr val="FFFF00"/>
                </a:highlight>
              </a:rPr>
              <a:t>n=10</a:t>
            </a:r>
            <a:r>
              <a:rPr lang="zh-CN" altLang="en-US" sz="1100" dirty="0">
                <a:highlight>
                  <a:srgbClr val="FFFF00"/>
                </a:highlight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</a:rPr>
              <a:t>/</a:t>
            </a:r>
            <a:r>
              <a:rPr lang="zh-CN" altLang="en-US" sz="1100" dirty="0">
                <a:highlight>
                  <a:srgbClr val="FFFF00"/>
                </a:highlight>
              </a:rPr>
              <a:t>组）。</a:t>
            </a:r>
            <a:endParaRPr lang="en-US" altLang="zh-CN" sz="1100" dirty="0">
              <a:highlight>
                <a:srgbClr val="FFFF00"/>
              </a:highlight>
            </a:endParaRPr>
          </a:p>
          <a:p>
            <a:r>
              <a:rPr lang="en-US" altLang="zh-CN" sz="1100" dirty="0">
                <a:highlight>
                  <a:srgbClr val="FFFF00"/>
                </a:highlight>
              </a:rPr>
              <a:t>m</a:t>
            </a:r>
            <a:r>
              <a:rPr lang="zh-CN" altLang="en-US" sz="1100" dirty="0">
                <a:highlight>
                  <a:srgbClr val="FFFF00"/>
                </a:highlight>
              </a:rPr>
              <a:t>，结肠组织</a:t>
            </a:r>
            <a:r>
              <a:rPr lang="en-US" altLang="zh-CN" sz="1100" dirty="0">
                <a:highlight>
                  <a:srgbClr val="FFFF00"/>
                </a:highlight>
              </a:rPr>
              <a:t>ZO-1</a:t>
            </a:r>
            <a:r>
              <a:rPr lang="zh-CN" altLang="en-US" sz="1100" dirty="0">
                <a:highlight>
                  <a:srgbClr val="FFFF00"/>
                </a:highlight>
              </a:rPr>
              <a:t>免疫荧光代表图（比例尺：</a:t>
            </a:r>
            <a:r>
              <a:rPr lang="en-US" altLang="zh-CN" sz="1100" dirty="0">
                <a:highlight>
                  <a:srgbClr val="FFFF00"/>
                </a:highlight>
              </a:rPr>
              <a:t>100 </a:t>
            </a:r>
            <a:r>
              <a:rPr lang="en-US" altLang="zh-CN" sz="1100" dirty="0" err="1">
                <a:highlight>
                  <a:srgbClr val="FFFF00"/>
                </a:highlight>
              </a:rPr>
              <a:t>μm</a:t>
            </a:r>
            <a:r>
              <a:rPr lang="zh-CN" altLang="en-US" sz="1100" dirty="0">
                <a:highlight>
                  <a:srgbClr val="FFFF00"/>
                </a:highlight>
              </a:rPr>
              <a:t>），以及</a:t>
            </a:r>
            <a:r>
              <a:rPr lang="en-US" altLang="zh-CN" sz="1100" dirty="0">
                <a:highlight>
                  <a:srgbClr val="FFFF00"/>
                </a:highlight>
              </a:rPr>
              <a:t>ZO-1</a:t>
            </a:r>
            <a:r>
              <a:rPr lang="zh-CN" altLang="en-US" sz="1100" dirty="0">
                <a:highlight>
                  <a:srgbClr val="FFFF00"/>
                </a:highlight>
              </a:rPr>
              <a:t>阳性面积定量（</a:t>
            </a:r>
            <a:r>
              <a:rPr lang="en-US" altLang="zh-CN" sz="1100" dirty="0">
                <a:highlight>
                  <a:srgbClr val="FFFF00"/>
                </a:highlight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</a:rPr>
              <a:t>/</a:t>
            </a:r>
            <a:r>
              <a:rPr lang="zh-CN" altLang="en-US" sz="1100" dirty="0">
                <a:highlight>
                  <a:srgbClr val="FFFF00"/>
                </a:highlight>
              </a:rPr>
              <a:t>组）。</a:t>
            </a:r>
            <a:endParaRPr lang="en-US" altLang="zh-CN" sz="1100" dirty="0">
              <a:highlight>
                <a:srgbClr val="FFFF00"/>
              </a:highlight>
            </a:endParaRPr>
          </a:p>
          <a:p>
            <a:r>
              <a:rPr lang="en-US" altLang="zh-CN" sz="1100" dirty="0">
                <a:highlight>
                  <a:srgbClr val="FFFF00"/>
                </a:highlight>
              </a:rPr>
              <a:t>n</a:t>
            </a:r>
            <a:r>
              <a:rPr lang="zh-CN" altLang="en-US" sz="1100" dirty="0">
                <a:highlight>
                  <a:srgbClr val="FFFF00"/>
                </a:highlight>
              </a:rPr>
              <a:t>，结肠组织</a:t>
            </a:r>
            <a:r>
              <a:rPr lang="en-US" altLang="zh-CN" sz="1100" dirty="0">
                <a:highlight>
                  <a:srgbClr val="FFFF00"/>
                </a:highlight>
              </a:rPr>
              <a:t>MUC2</a:t>
            </a:r>
            <a:r>
              <a:rPr lang="zh-CN" altLang="en-US" sz="1100" dirty="0">
                <a:highlight>
                  <a:srgbClr val="FFFF00"/>
                </a:highlight>
              </a:rPr>
              <a:t>染色代表图（比例尺：</a:t>
            </a:r>
            <a:r>
              <a:rPr lang="en-US" altLang="zh-CN" sz="1100" dirty="0">
                <a:highlight>
                  <a:srgbClr val="FFFF00"/>
                </a:highlight>
              </a:rPr>
              <a:t>300 </a:t>
            </a:r>
            <a:r>
              <a:rPr lang="en-US" altLang="zh-CN" sz="1100" dirty="0" err="1">
                <a:highlight>
                  <a:srgbClr val="FFFF00"/>
                </a:highlight>
              </a:rPr>
              <a:t>μm</a:t>
            </a:r>
            <a:r>
              <a:rPr lang="zh-CN" altLang="en-US" sz="1100" dirty="0">
                <a:highlight>
                  <a:srgbClr val="FFFF00"/>
                </a:highlight>
              </a:rPr>
              <a:t>），以及</a:t>
            </a:r>
            <a:r>
              <a:rPr lang="en-US" altLang="zh-CN" sz="1100" dirty="0">
                <a:highlight>
                  <a:srgbClr val="FFFF00"/>
                </a:highlight>
              </a:rPr>
              <a:t>MUC2</a:t>
            </a:r>
            <a:r>
              <a:rPr lang="zh-CN" altLang="en-US" sz="1100" dirty="0">
                <a:highlight>
                  <a:srgbClr val="FFFF00"/>
                </a:highlight>
              </a:rPr>
              <a:t>阳性面积定量（</a:t>
            </a:r>
            <a:r>
              <a:rPr lang="en-US" altLang="zh-CN" sz="1100" dirty="0">
                <a:highlight>
                  <a:srgbClr val="FFFF00"/>
                </a:highlight>
              </a:rPr>
              <a:t>n=12</a:t>
            </a:r>
            <a:r>
              <a:rPr lang="zh-CN" altLang="en-US" sz="1100" dirty="0">
                <a:highlight>
                  <a:srgbClr val="FFFF00"/>
                </a:highlight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</a:rPr>
              <a:t>/</a:t>
            </a:r>
            <a:r>
              <a:rPr lang="zh-CN" altLang="en-US" sz="1100" dirty="0">
                <a:highlight>
                  <a:srgbClr val="FFFF00"/>
                </a:highlight>
              </a:rPr>
              <a:t>组）。</a:t>
            </a:r>
            <a:endParaRPr lang="en-US" altLang="zh-CN" sz="1100" dirty="0">
              <a:highlight>
                <a:srgbClr val="FFFF00"/>
              </a:highlight>
            </a:endParaRPr>
          </a:p>
          <a:p>
            <a:r>
              <a:rPr lang="en-US" altLang="zh-CN" sz="1100" dirty="0">
                <a:highlight>
                  <a:srgbClr val="FFFF00"/>
                </a:highlight>
              </a:rPr>
              <a:t>o</a:t>
            </a:r>
            <a:r>
              <a:rPr lang="zh-CN" altLang="en-US" sz="1100" dirty="0">
                <a:highlight>
                  <a:srgbClr val="FFFF00"/>
                </a:highlight>
              </a:rPr>
              <a:t>，结肠固有层</a:t>
            </a:r>
            <a:r>
              <a:rPr lang="en-US" altLang="zh-CN" sz="1100" dirty="0">
                <a:highlight>
                  <a:srgbClr val="FFFF00"/>
                </a:highlight>
              </a:rPr>
              <a:t>T</a:t>
            </a:r>
            <a:r>
              <a:rPr lang="zh-CN" altLang="en-US" sz="1100" dirty="0">
                <a:highlight>
                  <a:srgbClr val="FFFF00"/>
                </a:highlight>
              </a:rPr>
              <a:t>细胞中表达</a:t>
            </a:r>
            <a:r>
              <a:rPr lang="en-US" altLang="zh-CN" sz="1100" dirty="0">
                <a:highlight>
                  <a:srgbClr val="FFFF00"/>
                </a:highlight>
              </a:rPr>
              <a:t>TNF</a:t>
            </a:r>
            <a:r>
              <a:rPr lang="zh-CN" altLang="en-US" sz="1100" dirty="0">
                <a:highlight>
                  <a:srgbClr val="FFFF00"/>
                </a:highlight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</a:rPr>
              <a:t>IL-17A</a:t>
            </a:r>
            <a:r>
              <a:rPr lang="zh-CN" altLang="en-US" sz="1100" dirty="0">
                <a:highlight>
                  <a:srgbClr val="FFFF00"/>
                </a:highlight>
              </a:rPr>
              <a:t>的细胞比例（</a:t>
            </a:r>
            <a:r>
              <a:rPr lang="en-US" altLang="zh-CN" sz="1100" dirty="0">
                <a:highlight>
                  <a:srgbClr val="FFFF00"/>
                </a:highlight>
              </a:rPr>
              <a:t>n=6</a:t>
            </a:r>
            <a:r>
              <a:rPr lang="zh-CN" altLang="en-US" sz="1100" dirty="0">
                <a:highlight>
                  <a:srgbClr val="FFFF00"/>
                </a:highlight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</a:rPr>
              <a:t>/</a:t>
            </a:r>
            <a:r>
              <a:rPr lang="zh-CN" altLang="en-US" sz="1100" dirty="0">
                <a:highlight>
                  <a:srgbClr val="FFFF00"/>
                </a:highlight>
              </a:rPr>
              <a:t>组）。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E91041-0F43-0F78-530B-AF6CAF8AB815}"/>
              </a:ext>
            </a:extLst>
          </p:cNvPr>
          <p:cNvSpPr txBox="1"/>
          <p:nvPr/>
        </p:nvSpPr>
        <p:spPr>
          <a:xfrm>
            <a:off x="6513606" y="466093"/>
            <a:ext cx="2760048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/>
              <a:t>PAS </a:t>
            </a:r>
            <a:r>
              <a:rPr lang="zh-CN" altLang="en-US" sz="1050" dirty="0"/>
              <a:t>反映杯状细胞分泌的黏液、黏蛋白储备</a:t>
            </a:r>
            <a:endParaRPr lang="en-US" altLang="zh-CN" sz="1050" dirty="0"/>
          </a:p>
          <a:p>
            <a:r>
              <a:rPr lang="en-US" altLang="zh-CN" sz="1050" dirty="0"/>
              <a:t>MUC2 </a:t>
            </a:r>
            <a:r>
              <a:rPr lang="zh-CN" altLang="en-US" sz="1050" dirty="0"/>
              <a:t>反映杯状细胞分泌的主要黏蛋白，看的是黏液屏障和杯状细胞功能</a:t>
            </a:r>
            <a:endParaRPr lang="en-US" altLang="zh-CN" sz="1050" dirty="0"/>
          </a:p>
          <a:p>
            <a:r>
              <a:rPr lang="en-US" altLang="zh-CN" sz="1050" dirty="0"/>
              <a:t>PAS </a:t>
            </a:r>
            <a:r>
              <a:rPr lang="zh-CN" altLang="en-US" sz="1050" dirty="0"/>
              <a:t>偏广谱看黏液</a:t>
            </a:r>
            <a:r>
              <a:rPr lang="en-US" altLang="zh-CN" sz="1050" dirty="0"/>
              <a:t>/</a:t>
            </a:r>
            <a:r>
              <a:rPr lang="zh-CN" altLang="en-US" sz="1050" dirty="0"/>
              <a:t>糖蛋白，</a:t>
            </a:r>
            <a:r>
              <a:rPr lang="en-US" altLang="zh-CN" sz="1050" dirty="0"/>
              <a:t>MUC2 </a:t>
            </a:r>
            <a:r>
              <a:rPr lang="zh-CN" altLang="en-US" sz="1050" dirty="0"/>
              <a:t>更特异看主要肠黏蛋白。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6439F7F-688A-F885-B2A4-17EEACE7D185}"/>
              </a:ext>
            </a:extLst>
          </p:cNvPr>
          <p:cNvSpPr txBox="1"/>
          <p:nvPr/>
        </p:nvSpPr>
        <p:spPr>
          <a:xfrm>
            <a:off x="1684003" y="5433436"/>
            <a:ext cx="172899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/>
              <a:t>ZO-1 </a:t>
            </a:r>
            <a:r>
              <a:rPr lang="zh-CN" altLang="en-US" sz="1050" dirty="0"/>
              <a:t>是紧密连接蛋白</a:t>
            </a:r>
          </a:p>
        </p:txBody>
      </p:sp>
    </p:spTree>
    <p:extLst>
      <p:ext uri="{BB962C8B-B14F-4D97-AF65-F5344CB8AC3E}">
        <p14:creationId xmlns:p14="http://schemas.microsoft.com/office/powerpoint/2010/main" val="881672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B2068-B0AE-658B-9199-7ACB6E1C4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D83E294-A9F8-8CBD-EF0D-06519A89756D}"/>
              </a:ext>
            </a:extLst>
          </p:cNvPr>
          <p:cNvSpPr txBox="1"/>
          <p:nvPr/>
        </p:nvSpPr>
        <p:spPr>
          <a:xfrm>
            <a:off x="172763" y="96761"/>
            <a:ext cx="89712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Supplementary Figure 2. Long-term KD exhibits limited effects on colitis and is independent of IL-17A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146F93-A6F7-CD72-91D6-D0E9EEB68F4D}"/>
              </a:ext>
            </a:extLst>
          </p:cNvPr>
          <p:cNvSpPr txBox="1"/>
          <p:nvPr/>
        </p:nvSpPr>
        <p:spPr>
          <a:xfrm>
            <a:off x="6638125" y="612204"/>
            <a:ext cx="2505875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作者进一步考察长期 </a:t>
            </a:r>
            <a:r>
              <a:rPr lang="en-US" altLang="zh-CN" sz="1050" dirty="0"/>
              <a:t>KD </a:t>
            </a:r>
            <a:r>
              <a:rPr lang="zh-CN" altLang="en-US" sz="1050" dirty="0"/>
              <a:t>对肠道生理状态的影响。长期 </a:t>
            </a:r>
            <a:r>
              <a:rPr lang="en-US" altLang="zh-CN" sz="1050" dirty="0"/>
              <a:t>KD </a:t>
            </a:r>
            <a:r>
              <a:rPr lang="zh-CN" altLang="en-US" sz="1050" dirty="0"/>
              <a:t>喂养会导致持续性体重下降、肝脏指数降低和结肠缩短，但并不会破坏肠道屏障完整性。</a:t>
            </a:r>
            <a:r>
              <a:rPr lang="zh-CN" altLang="en-US" sz="1050" dirty="0">
                <a:solidFill>
                  <a:srgbClr val="FF0000"/>
                </a:solidFill>
              </a:rPr>
              <a:t>长期 </a:t>
            </a:r>
            <a:r>
              <a:rPr lang="en-US" altLang="zh-CN" sz="1050" dirty="0">
                <a:solidFill>
                  <a:srgbClr val="FF0000"/>
                </a:solidFill>
              </a:rPr>
              <a:t>KD </a:t>
            </a:r>
            <a:r>
              <a:rPr lang="zh-CN" altLang="en-US" sz="1050" dirty="0">
                <a:solidFill>
                  <a:srgbClr val="FF0000"/>
                </a:solidFill>
              </a:rPr>
              <a:t>后，血清 </a:t>
            </a:r>
            <a:r>
              <a:rPr lang="en-US" altLang="zh-CN" sz="1050" dirty="0">
                <a:solidFill>
                  <a:srgbClr val="FF0000"/>
                </a:solidFill>
              </a:rPr>
              <a:t>IL-1</a:t>
            </a:r>
            <a:r>
              <a:rPr lang="el-GR" altLang="zh-CN" sz="1050" dirty="0">
                <a:solidFill>
                  <a:srgbClr val="FF0000"/>
                </a:solidFill>
              </a:rPr>
              <a:t>β</a:t>
            </a:r>
            <a:r>
              <a:rPr lang="zh-CN" altLang="el-GR" sz="1050" dirty="0">
                <a:solidFill>
                  <a:srgbClr val="FF0000"/>
                </a:solidFill>
              </a:rPr>
              <a:t>、</a:t>
            </a:r>
            <a:r>
              <a:rPr lang="en-US" altLang="zh-CN" sz="1050" dirty="0">
                <a:solidFill>
                  <a:srgbClr val="FF0000"/>
                </a:solidFill>
              </a:rPr>
              <a:t>IL-6 </a:t>
            </a:r>
            <a:r>
              <a:rPr lang="zh-CN" altLang="en-US" sz="1050" dirty="0">
                <a:solidFill>
                  <a:srgbClr val="FF0000"/>
                </a:solidFill>
              </a:rPr>
              <a:t>和 </a:t>
            </a:r>
            <a:r>
              <a:rPr lang="en-US" altLang="zh-CN" sz="1050" dirty="0">
                <a:solidFill>
                  <a:srgbClr val="FF0000"/>
                </a:solidFill>
              </a:rPr>
              <a:t>IL-17A </a:t>
            </a:r>
            <a:r>
              <a:rPr lang="zh-CN" altLang="en-US" sz="1050" dirty="0">
                <a:solidFill>
                  <a:srgbClr val="FF0000"/>
                </a:solidFill>
              </a:rPr>
              <a:t>水平甚至下降，提示肠道免疫微环境可能有所改善</a:t>
            </a:r>
            <a:r>
              <a:rPr lang="zh-CN" altLang="en-US" sz="1050" dirty="0"/>
              <a:t>。然而，</a:t>
            </a:r>
            <a:r>
              <a:rPr lang="zh-CN" altLang="en-US" sz="1050" dirty="0">
                <a:solidFill>
                  <a:srgbClr val="FF0000"/>
                </a:solidFill>
              </a:rPr>
              <a:t>当小鼠在 </a:t>
            </a:r>
            <a:r>
              <a:rPr lang="en-US" altLang="zh-CN" sz="1050" dirty="0">
                <a:solidFill>
                  <a:srgbClr val="FF0000"/>
                </a:solidFill>
              </a:rPr>
              <a:t>15 </a:t>
            </a:r>
            <a:r>
              <a:rPr lang="zh-CN" altLang="en-US" sz="1050" dirty="0">
                <a:solidFill>
                  <a:srgbClr val="FF0000"/>
                </a:solidFill>
              </a:rPr>
              <a:t>周 </a:t>
            </a:r>
            <a:r>
              <a:rPr lang="en-US" altLang="zh-CN" sz="1050" dirty="0">
                <a:solidFill>
                  <a:srgbClr val="FF0000"/>
                </a:solidFill>
              </a:rPr>
              <a:t>KD </a:t>
            </a:r>
            <a:r>
              <a:rPr lang="zh-CN" altLang="en-US" sz="1050" dirty="0">
                <a:solidFill>
                  <a:srgbClr val="FF0000"/>
                </a:solidFill>
              </a:rPr>
              <a:t>喂养后再接受 </a:t>
            </a:r>
            <a:r>
              <a:rPr lang="en-US" altLang="zh-CN" sz="1050" dirty="0">
                <a:solidFill>
                  <a:srgbClr val="FF0000"/>
                </a:solidFill>
              </a:rPr>
              <a:t>DSS </a:t>
            </a:r>
            <a:r>
              <a:rPr lang="zh-CN" altLang="en-US" sz="1050" dirty="0">
                <a:solidFill>
                  <a:srgbClr val="FF0000"/>
                </a:solidFill>
              </a:rPr>
              <a:t>诱导结肠炎时，疾病进展仍然加重，表现为上皮屏障破坏加剧，以及结肠 </a:t>
            </a:r>
            <a:r>
              <a:rPr lang="en-US" altLang="zh-CN" sz="1050" dirty="0">
                <a:solidFill>
                  <a:srgbClr val="FF0000"/>
                </a:solidFill>
              </a:rPr>
              <a:t>IL-17A </a:t>
            </a:r>
            <a:r>
              <a:rPr lang="zh-CN" altLang="en-US" sz="1050" dirty="0">
                <a:solidFill>
                  <a:srgbClr val="FF0000"/>
                </a:solidFill>
              </a:rPr>
              <a:t>水平升高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A9D22E5-995C-469E-4F72-EAFE49AE6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632" y="466093"/>
            <a:ext cx="4605758" cy="639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010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978FB-26D7-152F-A833-DF548619E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C15883F-A53E-1CC3-9FF8-EFA7A46EB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869" y="593314"/>
            <a:ext cx="8208524" cy="21342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C484A4B-DD37-06B5-DEA8-5354BF6166C0}"/>
              </a:ext>
            </a:extLst>
          </p:cNvPr>
          <p:cNvSpPr txBox="1"/>
          <p:nvPr/>
        </p:nvSpPr>
        <p:spPr>
          <a:xfrm>
            <a:off x="172764" y="96761"/>
            <a:ext cx="9100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Figure 1. KD aggravates colitis progression in the presence of intestinal mucosal disruption.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4617DB-5E8D-184B-A19C-6C8E21D2BA0D}"/>
              </a:ext>
            </a:extLst>
          </p:cNvPr>
          <p:cNvSpPr txBox="1"/>
          <p:nvPr/>
        </p:nvSpPr>
        <p:spPr>
          <a:xfrm>
            <a:off x="5424985" y="4611828"/>
            <a:ext cx="296304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100" dirty="0">
                <a:highlight>
                  <a:srgbClr val="FFFF00"/>
                </a:highlight>
              </a:rPr>
              <a:t>p，Il10敲除小鼠喂食CD或KD 4周。</a:t>
            </a:r>
            <a:endParaRPr lang="en-US" altLang="zh-CN" sz="1100" dirty="0">
              <a:highlight>
                <a:srgbClr val="FFFF00"/>
              </a:highlight>
            </a:endParaRPr>
          </a:p>
          <a:p>
            <a:r>
              <a:rPr lang="zh-CN" altLang="zh-CN" sz="1100" dirty="0">
                <a:highlight>
                  <a:srgbClr val="FFFF00"/>
                </a:highlight>
              </a:rPr>
              <a:t>q，体重下降情况（n=5只/组）。</a:t>
            </a:r>
            <a:endParaRPr lang="en-US" altLang="zh-CN" sz="1100" dirty="0">
              <a:highlight>
                <a:srgbClr val="FFFF00"/>
              </a:highlight>
            </a:endParaRPr>
          </a:p>
          <a:p>
            <a:r>
              <a:rPr lang="zh-CN" altLang="zh-CN" sz="1100" dirty="0">
                <a:highlight>
                  <a:srgbClr val="FFFF00"/>
                </a:highlight>
              </a:rPr>
              <a:t>r，结肠长度（n=5只/组）。</a:t>
            </a:r>
            <a:endParaRPr lang="en-US" altLang="zh-CN" sz="1100" dirty="0">
              <a:highlight>
                <a:srgbClr val="FFFF00"/>
              </a:highlight>
            </a:endParaRPr>
          </a:p>
          <a:p>
            <a:r>
              <a:rPr lang="zh-CN" altLang="zh-CN" sz="1100" dirty="0">
                <a:highlight>
                  <a:srgbClr val="FFFF00"/>
                </a:highlight>
              </a:rPr>
              <a:t>s-t，结肠组织H&amp;E染色代表图（比例尺：300 μm）及组织学评分（n=5只/组）。</a:t>
            </a:r>
            <a:endParaRPr lang="en-US" altLang="zh-CN" sz="1100" dirty="0">
              <a:highlight>
                <a:srgbClr val="FFFF00"/>
              </a:highlight>
            </a:endParaRPr>
          </a:p>
          <a:p>
            <a:r>
              <a:rPr lang="zh-CN" altLang="zh-CN" sz="1100" dirty="0">
                <a:highlight>
                  <a:srgbClr val="FFFF00"/>
                </a:highlight>
              </a:rPr>
              <a:t>u，结肠组织MUC2和IL-17A染色代表图（比例尺：300 μm），以及MUC2和IL-17A阳性面积定量（n=5只/组）。</a:t>
            </a:r>
            <a:endParaRPr lang="en-US" altLang="zh-CN" sz="1100" dirty="0">
              <a:highlight>
                <a:srgbClr val="FFFF00"/>
              </a:highlight>
            </a:endParaRPr>
          </a:p>
          <a:p>
            <a:r>
              <a:rPr lang="zh-CN" altLang="zh-CN" sz="1100" dirty="0">
                <a:highlight>
                  <a:srgbClr val="FFFF00"/>
                </a:highlight>
              </a:rPr>
              <a:t>v，血清TNF和IL-17A水平（n=5只/组）。</a:t>
            </a:r>
            <a:endParaRPr lang="zh-CN" altLang="en-US" sz="1100" dirty="0">
              <a:highlight>
                <a:srgbClr val="FFFF00"/>
              </a:highlight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FD7656-2C93-14AF-8386-01642661BD66}"/>
              </a:ext>
            </a:extLst>
          </p:cNvPr>
          <p:cNvSpPr txBox="1"/>
          <p:nvPr/>
        </p:nvSpPr>
        <p:spPr>
          <a:xfrm>
            <a:off x="418809" y="524697"/>
            <a:ext cx="276004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/>
              <a:t>Il10 KO </a:t>
            </a:r>
            <a:r>
              <a:rPr lang="zh-CN" altLang="en-US" sz="1050" dirty="0"/>
              <a:t>会随年龄发展自发性肠炎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9834113-7E3C-9424-F65D-AFB912EA9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809" y="2771882"/>
            <a:ext cx="8295966" cy="179720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0D0FA28-F753-B0C2-215C-C36CB91CEDFF}"/>
              </a:ext>
            </a:extLst>
          </p:cNvPr>
          <p:cNvSpPr txBox="1"/>
          <p:nvPr/>
        </p:nvSpPr>
        <p:spPr>
          <a:xfrm>
            <a:off x="119642" y="4705379"/>
            <a:ext cx="4603567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/>
              <a:t>*</a:t>
            </a:r>
            <a:r>
              <a:rPr lang="zh-CN" altLang="en-US" sz="1050" dirty="0"/>
              <a:t>无论是在 </a:t>
            </a:r>
            <a:r>
              <a:rPr lang="en-US" altLang="zh-CN" sz="1050" dirty="0"/>
              <a:t>DSS </a:t>
            </a:r>
            <a:r>
              <a:rPr lang="zh-CN" altLang="en-US" sz="1050" dirty="0"/>
              <a:t>模型还是 </a:t>
            </a:r>
            <a:r>
              <a:rPr lang="en-US" altLang="zh-CN" sz="1050" dirty="0"/>
              <a:t>Il10 </a:t>
            </a:r>
            <a:r>
              <a:rPr lang="zh-CN" altLang="en-US" sz="1050" dirty="0"/>
              <a:t>敲除模型中，</a:t>
            </a:r>
            <a:r>
              <a:rPr lang="en-US" altLang="zh-CN" sz="1050" dirty="0"/>
              <a:t>KD </a:t>
            </a:r>
            <a:r>
              <a:rPr lang="zh-CN" altLang="en-US" sz="1050" dirty="0"/>
              <a:t>都会加重结肠炎；长期 </a:t>
            </a:r>
            <a:r>
              <a:rPr lang="en-US" altLang="zh-CN" sz="1050" dirty="0"/>
              <a:t>KD </a:t>
            </a:r>
            <a:r>
              <a:rPr lang="zh-CN" altLang="en-US" sz="1050" dirty="0"/>
              <a:t>喂养也会使结肠炎恶化，但程度弱于短期 </a:t>
            </a:r>
            <a:r>
              <a:rPr lang="en-US" altLang="zh-CN" sz="1050" dirty="0"/>
              <a:t>KD</a:t>
            </a:r>
            <a:r>
              <a:rPr lang="zh-CN" altLang="en-US" sz="1050" dirty="0"/>
              <a:t>。这种时间依赖性的模式提示，长期 </a:t>
            </a:r>
            <a:r>
              <a:rPr lang="en-US" altLang="zh-CN" sz="1050" dirty="0"/>
              <a:t>KD </a:t>
            </a:r>
            <a:r>
              <a:rPr lang="zh-CN" altLang="en-US" sz="1050" dirty="0"/>
              <a:t>可能诱导了一定程度的肠道免疫适应</a:t>
            </a:r>
          </a:p>
        </p:txBody>
      </p:sp>
    </p:spTree>
    <p:extLst>
      <p:ext uri="{BB962C8B-B14F-4D97-AF65-F5344CB8AC3E}">
        <p14:creationId xmlns:p14="http://schemas.microsoft.com/office/powerpoint/2010/main" val="2019564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A9713-7F01-AA96-D299-489D3EC88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6860CDD-A55C-0431-34B7-1D67AAEDDEBD}"/>
              </a:ext>
            </a:extLst>
          </p:cNvPr>
          <p:cNvSpPr txBox="1"/>
          <p:nvPr/>
        </p:nvSpPr>
        <p:spPr>
          <a:xfrm>
            <a:off x="172764" y="96761"/>
            <a:ext cx="8846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Figure 2. IL‐17‐producing </a:t>
            </a:r>
            <a:r>
              <a:rPr lang="el-GR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 </a:t>
            </a:r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 cells accumulation in KD-DSS group. </a:t>
            </a:r>
            <a:r>
              <a:rPr lang="zh-CN" altLang="en-US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1718B96-5160-43CF-DCBB-909DF5365434}"/>
              </a:ext>
            </a:extLst>
          </p:cNvPr>
          <p:cNvSpPr txBox="1"/>
          <p:nvPr/>
        </p:nvSpPr>
        <p:spPr>
          <a:xfrm>
            <a:off x="179769" y="5317622"/>
            <a:ext cx="850703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，所有细胞类型的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UMAP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，各细胞簇标志基因表达点图。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CD-DSS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KD-DSS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组的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UMAP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可视化。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CD-DSS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KD-DSS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组中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细胞簇的分布。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，各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细胞簇所占比例。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6EDFCF-9908-6F8A-0A72-392E739A78F5}"/>
              </a:ext>
            </a:extLst>
          </p:cNvPr>
          <p:cNvSpPr txBox="1"/>
          <p:nvPr/>
        </p:nvSpPr>
        <p:spPr>
          <a:xfrm>
            <a:off x="850900" y="5122102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/>
              <a:t>Etomoxir </a:t>
            </a:r>
            <a:r>
              <a:rPr lang="zh-CN" altLang="en-US" sz="1050" dirty="0"/>
              <a:t>能阻断小鼠肝脏的生酮作用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A45160-45B1-B6F2-62F6-7175711DD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93"/>
            <a:ext cx="9144000" cy="415636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2A9C218-1252-26A9-195F-F5B6BB22B7AF}"/>
              </a:ext>
            </a:extLst>
          </p:cNvPr>
          <p:cNvSpPr/>
          <p:nvPr/>
        </p:nvSpPr>
        <p:spPr>
          <a:xfrm>
            <a:off x="8102381" y="3780430"/>
            <a:ext cx="584419" cy="1501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E6F5E0-5DF0-6DC2-C118-2F0FBD61DAFF}"/>
              </a:ext>
            </a:extLst>
          </p:cNvPr>
          <p:cNvSpPr/>
          <p:nvPr/>
        </p:nvSpPr>
        <p:spPr>
          <a:xfrm>
            <a:off x="8102381" y="2989295"/>
            <a:ext cx="775488" cy="992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8F3699-CB54-21B8-BF81-B1F995416C26}"/>
              </a:ext>
            </a:extLst>
          </p:cNvPr>
          <p:cNvSpPr/>
          <p:nvPr/>
        </p:nvSpPr>
        <p:spPr>
          <a:xfrm>
            <a:off x="8102381" y="3415353"/>
            <a:ext cx="775488" cy="992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480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88982-5FF4-4018-C4D7-EB3AD2D6E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7146CAE-0BEE-061A-89E4-200ACC8BC69F}"/>
              </a:ext>
            </a:extLst>
          </p:cNvPr>
          <p:cNvSpPr txBox="1"/>
          <p:nvPr/>
        </p:nvSpPr>
        <p:spPr>
          <a:xfrm>
            <a:off x="172764" y="96761"/>
            <a:ext cx="8846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Figure 2. IL‐17‐producing </a:t>
            </a:r>
            <a:r>
              <a:rPr lang="el-GR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 </a:t>
            </a:r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 cells accumulation in KD-DSS group. </a:t>
            </a:r>
            <a:r>
              <a:rPr lang="zh-CN" altLang="en-US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0065C9F-1D3D-2136-6C6D-770656E138C1}"/>
              </a:ext>
            </a:extLst>
          </p:cNvPr>
          <p:cNvSpPr txBox="1"/>
          <p:nvPr/>
        </p:nvSpPr>
        <p:spPr>
          <a:xfrm>
            <a:off x="91142" y="5208440"/>
            <a:ext cx="5395341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，各细胞簇中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Il1b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Tnf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Il17a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基因的富集表达。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，按照基因富集表达对各细胞簇进行排序，并展示每个细胞簇表达最高的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9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个基因。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γδ17 T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细胞最常见的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个标志基因在第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细胞簇中的表达。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，结肠固有层中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γδT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细胞的比例和数量（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n=6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，结肠固有层中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γδ17 T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细胞的比例和数量（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n=6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，结肠固有层中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Th17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细胞的比例和数量（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n=6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γδT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细胞与其他细胞之间差异性配体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受体相互作用。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6CB10D8-AF69-B5AA-8B6F-3B96449495E2}"/>
              </a:ext>
            </a:extLst>
          </p:cNvPr>
          <p:cNvSpPr txBox="1"/>
          <p:nvPr/>
        </p:nvSpPr>
        <p:spPr>
          <a:xfrm>
            <a:off x="7092447" y="5264963"/>
            <a:ext cx="1960411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zh-CN" sz="1050" dirty="0"/>
              <a:t>γδ17 </a:t>
            </a:r>
            <a:r>
              <a:rPr lang="en-US" altLang="zh-CN" sz="1050" dirty="0"/>
              <a:t>T </a:t>
            </a:r>
            <a:r>
              <a:rPr lang="zh-CN" altLang="en-US" sz="1050" dirty="0"/>
              <a:t>细胞来源的 </a:t>
            </a:r>
            <a:r>
              <a:rPr lang="en-US" altLang="zh-CN" sz="1050" dirty="0"/>
              <a:t>IL-17A </a:t>
            </a:r>
            <a:r>
              <a:rPr lang="zh-CN" altLang="en-US" sz="1050" dirty="0"/>
              <a:t>可以与 </a:t>
            </a:r>
            <a:r>
              <a:rPr lang="en-US" altLang="zh-CN" sz="1050" dirty="0"/>
              <a:t>Lcn2+</a:t>
            </a:r>
            <a:r>
              <a:rPr lang="zh-CN" altLang="en-US" sz="1050" dirty="0"/>
              <a:t>、</a:t>
            </a:r>
            <a:r>
              <a:rPr lang="en-US" altLang="zh-CN" sz="1050" dirty="0"/>
              <a:t>Cxcl2+</a:t>
            </a:r>
            <a:r>
              <a:rPr lang="zh-CN" altLang="en-US" sz="1050" dirty="0"/>
              <a:t>、</a:t>
            </a:r>
            <a:r>
              <a:rPr lang="en-US" altLang="zh-CN" sz="1050" dirty="0"/>
              <a:t>Lyz2+ </a:t>
            </a:r>
            <a:r>
              <a:rPr lang="zh-CN" altLang="en-US" sz="1050" dirty="0"/>
              <a:t>和 </a:t>
            </a:r>
            <a:r>
              <a:rPr lang="en-US" altLang="zh-CN" sz="1050" dirty="0"/>
              <a:t>Tff3+ </a:t>
            </a:r>
            <a:r>
              <a:rPr lang="zh-CN" altLang="en-US" sz="1050" dirty="0"/>
              <a:t>上皮细胞上的 </a:t>
            </a:r>
            <a:r>
              <a:rPr lang="en-US" altLang="zh-CN" sz="1050" dirty="0"/>
              <a:t>IL-17RA/IL-17RC </a:t>
            </a:r>
            <a:r>
              <a:rPr lang="zh-CN" altLang="en-US" sz="1050" dirty="0"/>
              <a:t>受体结合（</a:t>
            </a:r>
            <a:r>
              <a:rPr lang="en-US" altLang="zh-CN" sz="1050" dirty="0"/>
              <a:t>Fig. 2l</a:t>
            </a:r>
            <a:r>
              <a:rPr lang="zh-CN" altLang="en-US" sz="1050" dirty="0"/>
              <a:t>），提示 </a:t>
            </a:r>
            <a:r>
              <a:rPr lang="el-GR" altLang="zh-CN" sz="1050" dirty="0"/>
              <a:t>γδ17 </a:t>
            </a:r>
            <a:r>
              <a:rPr lang="en-US" altLang="zh-CN" sz="1050" dirty="0"/>
              <a:t>T </a:t>
            </a:r>
            <a:r>
              <a:rPr lang="zh-CN" altLang="en-US" sz="1050" dirty="0"/>
              <a:t>细胞可能直接调节上皮细胞反应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FC41A8-7457-8A7C-08F4-731371071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93"/>
            <a:ext cx="9144000" cy="479887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DC47447-0809-6FE0-6FE7-9D81735BBC3E}"/>
              </a:ext>
            </a:extLst>
          </p:cNvPr>
          <p:cNvSpPr/>
          <p:nvPr/>
        </p:nvSpPr>
        <p:spPr>
          <a:xfrm>
            <a:off x="7092447" y="3429000"/>
            <a:ext cx="871022" cy="3446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30AA14-0963-754B-4FA1-AD4CB2DA424C}"/>
              </a:ext>
            </a:extLst>
          </p:cNvPr>
          <p:cNvSpPr/>
          <p:nvPr/>
        </p:nvSpPr>
        <p:spPr>
          <a:xfrm>
            <a:off x="6670583" y="3809579"/>
            <a:ext cx="1149584" cy="2438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4C9959-661B-C482-C4E7-71E5747623F2}"/>
              </a:ext>
            </a:extLst>
          </p:cNvPr>
          <p:cNvSpPr/>
          <p:nvPr/>
        </p:nvSpPr>
        <p:spPr>
          <a:xfrm>
            <a:off x="6656935" y="4078110"/>
            <a:ext cx="1047225" cy="7190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CF259B2-33B3-F94D-75CB-A81CC40BD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040318"/>
              </p:ext>
            </p:extLst>
          </p:nvPr>
        </p:nvGraphicFramePr>
        <p:xfrm>
          <a:off x="9247907" y="576679"/>
          <a:ext cx="4810437" cy="1615440"/>
        </p:xfrm>
        <a:graphic>
          <a:graphicData uri="http://schemas.openxmlformats.org/drawingml/2006/table">
            <a:tbl>
              <a:tblPr/>
              <a:tblGrid>
                <a:gridCol w="713510">
                  <a:extLst>
                    <a:ext uri="{9D8B030D-6E8A-4147-A177-3AD203B41FA5}">
                      <a16:colId xmlns:a16="http://schemas.microsoft.com/office/drawing/2014/main" val="2430145711"/>
                    </a:ext>
                  </a:extLst>
                </a:gridCol>
                <a:gridCol w="1849582">
                  <a:extLst>
                    <a:ext uri="{9D8B030D-6E8A-4147-A177-3AD203B41FA5}">
                      <a16:colId xmlns:a16="http://schemas.microsoft.com/office/drawing/2014/main" val="2693930636"/>
                    </a:ext>
                  </a:extLst>
                </a:gridCol>
                <a:gridCol w="2247345">
                  <a:extLst>
                    <a:ext uri="{9D8B030D-6E8A-4147-A177-3AD203B41FA5}">
                      <a16:colId xmlns:a16="http://schemas.microsoft.com/office/drawing/2014/main" val="24190231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00"/>
                        <a:t>基因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00" dirty="0"/>
                        <a:t>编码/功能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00" dirty="0"/>
                        <a:t>标志意义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600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00"/>
                        <a:t>Trdc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00"/>
                        <a:t>T细胞受体δ链恒定区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00"/>
                        <a:t>直接的γδT谱系标志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336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00"/>
                        <a:t>Trdv4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00"/>
                        <a:t>T细胞受体δ链可变区4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00"/>
                        <a:t>特定γδT亚群的TCR组成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657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00"/>
                        <a:t>Cd163l1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00"/>
                        <a:t>CD163样分子1，又称SCART1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00"/>
                        <a:t>Vγ6⁺γδ17亚群富集标志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276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00"/>
                        <a:t>Blk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00"/>
                        <a:t>B淋巴细胞激酶，Src家族激酶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00"/>
                        <a:t>γδ17发育和功能程序相关基因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221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00"/>
                        <a:t>Pdcd1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00"/>
                        <a:t>PD-1/CD279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00" dirty="0"/>
                        <a:t>活化/调节状态标志，不具有γδT特异性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623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4189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9A3A4-23F1-67A5-E9D4-63DB32DEC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BEB4BFB-69AD-658E-464A-A5DA6084CA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78"/>
          <a:stretch>
            <a:fillRect/>
          </a:stretch>
        </p:blipFill>
        <p:spPr>
          <a:xfrm>
            <a:off x="13648" y="721127"/>
            <a:ext cx="7092057" cy="435391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5979AA2-DC0F-2D44-887D-E169073E2550}"/>
              </a:ext>
            </a:extLst>
          </p:cNvPr>
          <p:cNvSpPr txBox="1"/>
          <p:nvPr/>
        </p:nvSpPr>
        <p:spPr>
          <a:xfrm>
            <a:off x="172763" y="96761"/>
            <a:ext cx="89712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Supplementary Figure 3. γδ17T cells, but not Th17 cells, predominantly contribute to elevated IL-17A levels during KD-exacerbated colitis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FB61D1-E7F6-E2F6-DC59-A42ABC32F127}"/>
              </a:ext>
            </a:extLst>
          </p:cNvPr>
          <p:cNvSpPr txBox="1"/>
          <p:nvPr/>
        </p:nvSpPr>
        <p:spPr>
          <a:xfrm>
            <a:off x="7337021" y="612204"/>
            <a:ext cx="1734777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/>
              <a:t>KD-DSS </a:t>
            </a:r>
            <a:r>
              <a:rPr lang="zh-CN" altLang="en-US" sz="1050" dirty="0"/>
              <a:t>结肠中 </a:t>
            </a:r>
            <a:r>
              <a:rPr lang="en-US" altLang="zh-CN" sz="1050" dirty="0"/>
              <a:t>γδ17 T </a:t>
            </a:r>
            <a:r>
              <a:rPr lang="zh-CN" altLang="en-US" sz="1050" dirty="0"/>
              <a:t>细胞与基质细胞</a:t>
            </a:r>
            <a:r>
              <a:rPr lang="en-US" altLang="zh-CN" sz="1050" dirty="0"/>
              <a:t>/</a:t>
            </a:r>
            <a:r>
              <a:rPr lang="zh-CN" altLang="en-US" sz="1050" dirty="0"/>
              <a:t>上皮细胞之间的配体</a:t>
            </a:r>
            <a:r>
              <a:rPr lang="en-US" altLang="zh-CN" sz="1050" dirty="0"/>
              <a:t>-</a:t>
            </a:r>
            <a:r>
              <a:rPr lang="zh-CN" altLang="en-US" sz="1050" dirty="0"/>
              <a:t>受体互作增强。主要互作对象包括 </a:t>
            </a:r>
            <a:r>
              <a:rPr lang="en-US" altLang="zh-CN" sz="1050" dirty="0"/>
              <a:t>Lcn2+ </a:t>
            </a:r>
            <a:r>
              <a:rPr lang="zh-CN" altLang="en-US" sz="1050" dirty="0"/>
              <a:t>和 </a:t>
            </a:r>
            <a:r>
              <a:rPr lang="en-US" altLang="zh-CN" sz="1050" dirty="0"/>
              <a:t>Lyz2+ </a:t>
            </a:r>
            <a:r>
              <a:rPr lang="zh-CN" altLang="en-US" sz="1050" dirty="0"/>
              <a:t>上皮细胞、</a:t>
            </a:r>
            <a:r>
              <a:rPr lang="en-US" altLang="zh-CN" sz="1050" dirty="0"/>
              <a:t>Il1b+/Cxcl2+ </a:t>
            </a:r>
            <a:r>
              <a:rPr lang="zh-CN" altLang="en-US" sz="1050" dirty="0"/>
              <a:t>成纤维细胞，以及 </a:t>
            </a:r>
            <a:r>
              <a:rPr lang="en-US" altLang="zh-CN" sz="1050" dirty="0" err="1"/>
              <a:t>Plvap</a:t>
            </a:r>
            <a:r>
              <a:rPr lang="en-US" altLang="zh-CN" sz="1050" dirty="0"/>
              <a:t>+ </a:t>
            </a:r>
            <a:r>
              <a:rPr lang="zh-CN" altLang="en-US" sz="1050" dirty="0"/>
              <a:t>内皮细胞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3F22A10-9C05-1EB6-2009-3E887232D656}"/>
              </a:ext>
            </a:extLst>
          </p:cNvPr>
          <p:cNvSpPr txBox="1"/>
          <p:nvPr/>
        </p:nvSpPr>
        <p:spPr>
          <a:xfrm>
            <a:off x="883904" y="5053079"/>
            <a:ext cx="329913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/>
              <a:t>KD-DSS </a:t>
            </a:r>
            <a:r>
              <a:rPr lang="zh-CN" altLang="en-US" sz="1050" dirty="0"/>
              <a:t>小鼠中的 </a:t>
            </a:r>
            <a:r>
              <a:rPr lang="en-US" altLang="zh-CN" sz="1050" dirty="0"/>
              <a:t>Lcn2+ </a:t>
            </a:r>
            <a:r>
              <a:rPr lang="zh-CN" altLang="en-US" sz="1050" dirty="0"/>
              <a:t>上皮细胞表现出多类基因表达上调，包括参与黏蛋白生物合成的 </a:t>
            </a:r>
            <a:r>
              <a:rPr lang="en-US" altLang="zh-CN" sz="1050" dirty="0"/>
              <a:t>Agr2</a:t>
            </a:r>
            <a:r>
              <a:rPr lang="zh-CN" altLang="en-US" sz="1050" dirty="0"/>
              <a:t>、补体调节相关的 </a:t>
            </a:r>
            <a:r>
              <a:rPr lang="en-US" altLang="zh-CN" sz="1050" dirty="0" err="1"/>
              <a:t>Cfh</a:t>
            </a:r>
            <a:r>
              <a:rPr lang="zh-CN" altLang="en-US" sz="1050" dirty="0"/>
              <a:t>、趋化因子信号相关的 </a:t>
            </a:r>
            <a:r>
              <a:rPr lang="en-US" altLang="zh-CN" sz="1050" dirty="0"/>
              <a:t>Ccl11</a:t>
            </a:r>
            <a:r>
              <a:rPr lang="zh-CN" altLang="en-US" sz="1050" dirty="0"/>
              <a:t>，并伴随细胞外基质重塑增强，表现为 </a:t>
            </a:r>
            <a:r>
              <a:rPr lang="en-US" altLang="zh-CN" sz="1050" dirty="0"/>
              <a:t>Mmp3 </a:t>
            </a:r>
            <a:r>
              <a:rPr lang="zh-CN" altLang="en-US" sz="1050" dirty="0"/>
              <a:t>和 </a:t>
            </a:r>
            <a:r>
              <a:rPr lang="en-US" altLang="zh-CN" sz="1050" dirty="0"/>
              <a:t>Timp3 </a:t>
            </a:r>
            <a:r>
              <a:rPr lang="zh-CN" altLang="en-US" sz="1050" dirty="0"/>
              <a:t>表达升高。这些过程都被认为与 </a:t>
            </a:r>
            <a:r>
              <a:rPr lang="en-US" altLang="zh-CN" sz="1050" dirty="0"/>
              <a:t>IBD </a:t>
            </a:r>
            <a:r>
              <a:rPr lang="zh-CN" altLang="en-US" sz="1050" dirty="0"/>
              <a:t>的发病机制有关。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7202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4EC1D-7681-0AFA-595B-84A062C8B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D703E44-B9F2-D061-C78A-38F505B68F25}"/>
              </a:ext>
            </a:extLst>
          </p:cNvPr>
          <p:cNvSpPr txBox="1"/>
          <p:nvPr/>
        </p:nvSpPr>
        <p:spPr>
          <a:xfrm>
            <a:off x="172764" y="96761"/>
            <a:ext cx="8882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Figure 3. γδ17 T cells are the major player in KD-DSS induced mucosal injury.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6D2876-CF10-7E02-E28A-73BC0428C7F4}"/>
              </a:ext>
            </a:extLst>
          </p:cNvPr>
          <p:cNvSpPr txBox="1"/>
          <p:nvPr/>
        </p:nvSpPr>
        <p:spPr>
          <a:xfrm>
            <a:off x="172765" y="4541059"/>
            <a:ext cx="452206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γδT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细胞过继转移和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KD-DSS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处理的实验流程示意图。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，结肠固有层中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γδT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CD3⁺γδTCR⁺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）的流式细胞术代表图（左），以及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γδT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细胞占结肠固有层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CD3⁺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细胞的比例（右，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n=3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，体重下降情况（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，疾病活动指数（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DAI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，结肠长度（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，结肠组织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H&amp;E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MUC2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染色代表图（比例尺：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300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μm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），以及组织学评分和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MUC2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阳性面积定量（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B7CF9D-7E5E-7A07-F295-9C71B7F13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93"/>
            <a:ext cx="9144000" cy="397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297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4370E-3203-3E11-2D40-A33523AA7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548EE94-73F4-9348-39CB-4C4C5255A8DA}"/>
              </a:ext>
            </a:extLst>
          </p:cNvPr>
          <p:cNvSpPr txBox="1"/>
          <p:nvPr/>
        </p:nvSpPr>
        <p:spPr>
          <a:xfrm>
            <a:off x="172764" y="96761"/>
            <a:ext cx="8882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Figure 3. γδ17 T cells are the major player in KD-DSS induced mucosal injury.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9CAB285-3BB9-11D8-AED6-CDB4A034625E}"/>
              </a:ext>
            </a:extLst>
          </p:cNvPr>
          <p:cNvSpPr txBox="1"/>
          <p:nvPr/>
        </p:nvSpPr>
        <p:spPr>
          <a:xfrm>
            <a:off x="3828077" y="4507976"/>
            <a:ext cx="427187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，实验流程示意图。小鼠接受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2.5% DSS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并喂食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KD 7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天以诱导结肠炎，同时腹腔注射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200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μg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对照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IgG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或抗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IL-17A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抗体。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，体重下降和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DAI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，结肠长度（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，血清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TNF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水平（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，血清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IL-17A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水平（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，结肠组织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H&amp;E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染色代表图（比例尺：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200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μm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）及组织学评分（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，结肠组织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TNF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IL-17A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染色代表图（比例尺：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300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μm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TNF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IL-17A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阳性面积定量（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DDF4C4-26FA-DD36-8490-08221CB0E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6284"/>
            <a:ext cx="9144000" cy="38666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A3B7149-C396-8EFF-400F-DF0AD8183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3" y="4381810"/>
            <a:ext cx="3238095" cy="2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55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46BF3-6C7B-4496-F00E-175B5B312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585E2F9-6D40-26F9-255F-CD756C8AE226}"/>
              </a:ext>
            </a:extLst>
          </p:cNvPr>
          <p:cNvSpPr txBox="1"/>
          <p:nvPr/>
        </p:nvSpPr>
        <p:spPr>
          <a:xfrm>
            <a:off x="172764" y="96761"/>
            <a:ext cx="8882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Figure 3. γδ17 T cells are the major player in KD-DSS induced mucosal injury.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ED0AA7-1D39-DE8D-D0DB-9DD62539DCA2}"/>
              </a:ext>
            </a:extLst>
          </p:cNvPr>
          <p:cNvSpPr txBox="1"/>
          <p:nvPr/>
        </p:nvSpPr>
        <p:spPr>
          <a:xfrm>
            <a:off x="753474" y="5072896"/>
            <a:ext cx="729626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，实验流程示意图。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Il17a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敲除小鼠接受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2.5% DSS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处理并喂食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KD 7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天，以建立结肠炎模型。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，体重下降和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DAI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n=9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，结肠长度（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n=9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，血清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TNF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水平（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n=6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，结肠组织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H&amp;E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染色代表图（比例尺：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600/300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μm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）及组织学评分（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，粪便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水平（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n=9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FAD4D80-DE97-C01E-3AE2-F5E2CA9A8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64" y="626637"/>
            <a:ext cx="8638095" cy="21428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F915E3E-57B4-3541-9B04-2561A6A4F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10" y="2850320"/>
            <a:ext cx="7092068" cy="18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404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20770-A13C-16C7-C6A6-A1087CBA2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EE8EC8-E987-906C-28F5-60DF3E0D0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39" y="1922897"/>
            <a:ext cx="8452522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科学问题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：生酮饮食在健康和肠黏膜损伤状态下分别产生什么影响？造成其影响的关键免疫细胞和炎症因子是什么？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936649-5290-AEA3-CB38-1B338B7A657C}"/>
              </a:ext>
            </a:extLst>
          </p:cNvPr>
          <p:cNvSpPr txBox="1"/>
          <p:nvPr/>
        </p:nvSpPr>
        <p:spPr>
          <a:xfrm>
            <a:off x="637673" y="3609540"/>
            <a:ext cx="800993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回答：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KD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在健康肠道中不造成明显损伤，但在黏膜损伤背景下加重结肠炎，其关键免疫效应与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γδ17 T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细胞扩增及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IL-17A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升高有关。</a:t>
            </a:r>
          </a:p>
          <a:p>
            <a:pPr algn="ctr"/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47540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6A615-FAE1-0F63-A9DD-467E40C47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1C553C-0A7C-18F0-7746-43207AA07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360" y="2600875"/>
            <a:ext cx="8452522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科学问题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生酮饮食产生的哪种代谢物介导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γδ17 T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细胞反应和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IL-17A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依赖的结肠炎加重？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696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023BF-F5D7-7AF5-A736-06008042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3B6950F-D03D-2BA8-C54E-B7D438AA4859}"/>
              </a:ext>
            </a:extLst>
          </p:cNvPr>
          <p:cNvSpPr txBox="1"/>
          <p:nvPr/>
        </p:nvSpPr>
        <p:spPr>
          <a:xfrm>
            <a:off x="-1" y="1"/>
            <a:ext cx="81195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酮体的生成（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ketogenesis-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肝脏肝细胞）及消耗（外周组织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ketolysis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870EE54-37AC-2513-CD62-4985BE446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621" y="941070"/>
            <a:ext cx="6775222" cy="508540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7AEBC67-9A37-5D96-C930-CBDBC07E37F0}"/>
              </a:ext>
            </a:extLst>
          </p:cNvPr>
          <p:cNvSpPr/>
          <p:nvPr/>
        </p:nvSpPr>
        <p:spPr>
          <a:xfrm>
            <a:off x="3847464" y="3902414"/>
            <a:ext cx="639017" cy="38013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8F0D94-9D1B-7AF3-4039-AB007C468FB4}"/>
              </a:ext>
            </a:extLst>
          </p:cNvPr>
          <p:cNvSpPr/>
          <p:nvPr/>
        </p:nvSpPr>
        <p:spPr>
          <a:xfrm>
            <a:off x="3289395" y="4653450"/>
            <a:ext cx="639017" cy="38013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C9B91A-50CF-9DAB-A397-DD0178EC28B7}"/>
              </a:ext>
            </a:extLst>
          </p:cNvPr>
          <p:cNvSpPr/>
          <p:nvPr/>
        </p:nvSpPr>
        <p:spPr>
          <a:xfrm>
            <a:off x="3847463" y="5339960"/>
            <a:ext cx="862684" cy="38013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36C7BF7-C609-6C7C-D126-CABD8D4C28DA}"/>
              </a:ext>
            </a:extLst>
          </p:cNvPr>
          <p:cNvSpPr txBox="1"/>
          <p:nvPr/>
        </p:nvSpPr>
        <p:spPr>
          <a:xfrm>
            <a:off x="769674" y="5955012"/>
            <a:ext cx="80519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酮体生成的主要场所是肝脏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酮体的产生（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BHB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dirty="0" err="1">
                <a:latin typeface="楷体" panose="02010609060101010101" pitchFamily="49" charset="-122"/>
                <a:ea typeface="楷体" panose="02010609060101010101" pitchFamily="49" charset="-122"/>
              </a:rPr>
              <a:t>AcAc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Acetone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）是生酮状态的标志</a:t>
            </a:r>
          </a:p>
          <a:p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2329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25E5C-2551-1DC9-A5DD-A079A92B3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E49EA51-34CD-327B-0954-F5C9CECAABA3}"/>
              </a:ext>
            </a:extLst>
          </p:cNvPr>
          <p:cNvSpPr txBox="1"/>
          <p:nvPr/>
        </p:nvSpPr>
        <p:spPr>
          <a:xfrm>
            <a:off x="172764" y="96761"/>
            <a:ext cx="8833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Figure 4. β-HB is necessary for colitis progression.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674CDF-94E7-CCD4-FABE-894BBC806DF1}"/>
              </a:ext>
            </a:extLst>
          </p:cNvPr>
          <p:cNvSpPr txBox="1"/>
          <p:nvPr/>
        </p:nvSpPr>
        <p:spPr>
          <a:xfrm>
            <a:off x="88710" y="4018654"/>
            <a:ext cx="4299046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CD-DSS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KD-DSS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小鼠的粪便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AcAc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及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水平（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n=12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，实验流程示意图。小鼠接受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2.5% DSS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并喂食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 7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天，同时每日两次灌胃生理盐水或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 mg/kg β-HB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，体重下降、粪便稠度指数、直肠出血指数和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DAI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n=8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，结肠长度（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n=8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，结肠组织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H&amp;E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MUC2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染色代表图（比例尺：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300/100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μm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），以及组织学评分和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MUC2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阳性面积定量（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n=8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，结肠组织中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Il17a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的相对表达量（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n=8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，结肠固有层中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γδ17 T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细胞的比例和数量（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n=6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064C319-4322-72EA-0A93-A5FC88B55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5087"/>
            <a:ext cx="9144000" cy="315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416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C2548-263E-2C69-8376-45021DD19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1E8F09A-08CA-D819-12C4-2BC58A5D2E7E}"/>
              </a:ext>
            </a:extLst>
          </p:cNvPr>
          <p:cNvSpPr txBox="1"/>
          <p:nvPr/>
        </p:nvSpPr>
        <p:spPr>
          <a:xfrm>
            <a:off x="172764" y="96761"/>
            <a:ext cx="8833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Figure 4. β-HB is necessary for colitis progression.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AFBF207-058D-22DD-B867-26B8C64D1B31}"/>
              </a:ext>
            </a:extLst>
          </p:cNvPr>
          <p:cNvSpPr txBox="1"/>
          <p:nvPr/>
        </p:nvSpPr>
        <p:spPr>
          <a:xfrm>
            <a:off x="257274" y="3657879"/>
            <a:ext cx="37415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，实验流程示意图。小鼠接受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2.5% DSS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并喂食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 7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天，同时每日灌胃生理盐水或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30 mg/kg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恩格列净（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EMPA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，粪便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水平（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n=8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，体重下降、粪便稠度指数、直肠出血指数和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DAI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n=8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，结肠长度（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n=8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，结肠组织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H&amp;E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MUC2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染色代表图（比例尺：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300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μm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），以及组织学评分和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MUC2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阳性面积定量（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n=8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，结肠组织中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Il17a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的相对表达量（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n=8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，结肠固有层中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γδ17 T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细胞的比例和数量（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9CDD43-0595-4DF1-D682-E647C65BA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7348"/>
            <a:ext cx="9144000" cy="302198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0660EBD-AD69-62D3-4546-6850686ABBA9}"/>
              </a:ext>
            </a:extLst>
          </p:cNvPr>
          <p:cNvSpPr txBox="1"/>
          <p:nvPr/>
        </p:nvSpPr>
        <p:spPr>
          <a:xfrm>
            <a:off x="4396323" y="3730592"/>
            <a:ext cx="460953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生酮增强剂恩格列净</a:t>
            </a:r>
            <a:r>
              <a:rPr lang="en-US" altLang="zh-CN" sz="1400" dirty="0"/>
              <a:t>EMPA</a:t>
            </a:r>
            <a:r>
              <a:rPr lang="zh-CN" altLang="en-US" sz="1400" dirty="0"/>
              <a:t>，以及生酮抑制剂他克莫司</a:t>
            </a:r>
            <a:r>
              <a:rPr lang="en-US" altLang="zh-CN" sz="1400" dirty="0"/>
              <a:t>TAC</a:t>
            </a:r>
            <a:r>
              <a:rPr lang="zh-CN" altLang="en-US" sz="1400" dirty="0"/>
              <a:t>。</a:t>
            </a:r>
            <a:r>
              <a:rPr lang="en-US" altLang="zh-CN" sz="1400" dirty="0"/>
              <a:t>EMPA</a:t>
            </a:r>
            <a:r>
              <a:rPr lang="zh-CN" altLang="en-US" sz="1400" dirty="0"/>
              <a:t>通过上调</a:t>
            </a:r>
            <a:r>
              <a:rPr lang="en-US" altLang="zh-CN" sz="1400" dirty="0"/>
              <a:t>β-</a:t>
            </a:r>
            <a:r>
              <a:rPr lang="zh-CN" altLang="en-US" sz="1400" dirty="0"/>
              <a:t>羟基丁酸脱氢酶</a:t>
            </a:r>
            <a:r>
              <a:rPr lang="en-US" altLang="zh-CN" sz="1400" dirty="0"/>
              <a:t>1</a:t>
            </a:r>
            <a:r>
              <a:rPr lang="zh-CN" altLang="en-US" sz="1400" dirty="0"/>
              <a:t>（</a:t>
            </a:r>
            <a:r>
              <a:rPr lang="en-US" altLang="zh-CN" sz="1400" dirty="0"/>
              <a:t>BDH1</a:t>
            </a:r>
            <a:r>
              <a:rPr lang="zh-CN" altLang="en-US" sz="1400" dirty="0"/>
              <a:t>）来增强生酮作用。</a:t>
            </a:r>
            <a:r>
              <a:rPr lang="en-US" altLang="zh-CN" sz="1400" dirty="0"/>
              <a:t>BDH1</a:t>
            </a:r>
            <a:r>
              <a:rPr lang="zh-CN" altLang="en-US" sz="1400" dirty="0"/>
              <a:t>是生酮过程中的限速酶，能够将</a:t>
            </a:r>
            <a:r>
              <a:rPr lang="en-US" altLang="zh-CN" sz="1400" dirty="0" err="1"/>
              <a:t>AcAc</a:t>
            </a:r>
            <a:r>
              <a:rPr lang="zh-CN" altLang="en-US" sz="1400" dirty="0"/>
              <a:t>转化为</a:t>
            </a:r>
            <a:r>
              <a:rPr lang="en-US" altLang="zh-CN" sz="1400" dirty="0"/>
              <a:t>β-HB</a:t>
            </a:r>
            <a:r>
              <a:rPr lang="zh-CN" altLang="en-US" sz="1400" dirty="0"/>
              <a:t>。相比之下，</a:t>
            </a:r>
            <a:r>
              <a:rPr lang="en-US" altLang="zh-CN" sz="1400" dirty="0"/>
              <a:t>TAC</a:t>
            </a:r>
            <a:r>
              <a:rPr lang="zh-CN" altLang="en-US" sz="1400" dirty="0"/>
              <a:t>通过下调</a:t>
            </a:r>
            <a:r>
              <a:rPr lang="en-US" altLang="zh-CN" sz="1400" dirty="0"/>
              <a:t>HMGCS2</a:t>
            </a:r>
            <a:r>
              <a:rPr lang="zh-CN" altLang="en-US" sz="1400" dirty="0"/>
              <a:t>来抑制生酮过程，这两种酶均参与酮体生成</a:t>
            </a:r>
          </a:p>
        </p:txBody>
      </p:sp>
    </p:spTree>
    <p:extLst>
      <p:ext uri="{BB962C8B-B14F-4D97-AF65-F5344CB8AC3E}">
        <p14:creationId xmlns:p14="http://schemas.microsoft.com/office/powerpoint/2010/main" val="1298976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7A427-8624-E020-1259-4049C9974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CC090DB-5BEE-5E67-CF6F-852654566E70}"/>
              </a:ext>
            </a:extLst>
          </p:cNvPr>
          <p:cNvSpPr txBox="1"/>
          <p:nvPr/>
        </p:nvSpPr>
        <p:spPr>
          <a:xfrm>
            <a:off x="172764" y="96761"/>
            <a:ext cx="8833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Figure 4. β-HB is necessary for colitis progression.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7BA7A3-EBFF-0D88-2CDE-39F6E5316029}"/>
              </a:ext>
            </a:extLst>
          </p:cNvPr>
          <p:cNvSpPr txBox="1"/>
          <p:nvPr/>
        </p:nvSpPr>
        <p:spPr>
          <a:xfrm>
            <a:off x="172763" y="3747055"/>
            <a:ext cx="4481123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，实验流程示意图。小鼠接受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2.5% DSS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并喂食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KD 7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天，同时每日灌胃生理盐水或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2.5 mg/kg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他克莫司（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TAC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，粪便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水平（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n=10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，体重下降、粪便稠度指数、直肠出血指数和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DAI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n=10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，结肠长度（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n=10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，结肠组织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H&amp;E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MUC2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染色代表图（比例尺：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300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μm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），以及组织学评分和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MUC2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阳性面积定量（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n=10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，结肠组织中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Il17a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的相对表达量（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n=10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，结肠固有层中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γδ17 T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细胞的比例和数量（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DA8F55E-D920-27B0-32CA-A60665010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8" y="599204"/>
            <a:ext cx="9144000" cy="301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132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0B199-69C2-73FD-AE2F-8A1A17C38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7C901B-0AB9-BD69-0619-4FE7CCB8B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39" y="1922897"/>
            <a:ext cx="8452522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科学问题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生酮饮食产生的哪种代谢物介导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γδ17 T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细胞反应和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IL-17A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依赖的结肠炎加重？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0D90787-08C0-B9A0-3696-7243CD4F1021}"/>
              </a:ext>
            </a:extLst>
          </p:cNvPr>
          <p:cNvSpPr txBox="1"/>
          <p:nvPr/>
        </p:nvSpPr>
        <p:spPr>
          <a:xfrm>
            <a:off x="461751" y="3429000"/>
            <a:ext cx="833651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回答：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KD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诱导的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是关键候选代谢介质；提高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可模拟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KD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效应，降低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则可缓解结肠炎。</a:t>
            </a:r>
          </a:p>
          <a:p>
            <a:pPr algn="ctr"/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977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FA38A-2B96-E842-09A4-86597C665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2341B-4618-82A2-BF27-FADC06A5E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39" y="2103437"/>
            <a:ext cx="8452522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科学问题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如何促进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γδ17 T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细胞分化？</a:t>
            </a:r>
          </a:p>
        </p:txBody>
      </p:sp>
    </p:spTree>
    <p:extLst>
      <p:ext uri="{BB962C8B-B14F-4D97-AF65-F5344CB8AC3E}">
        <p14:creationId xmlns:p14="http://schemas.microsoft.com/office/powerpoint/2010/main" val="7018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AD667-DBEF-5C3D-62BF-385D26BD0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33377A3-95C1-8EE9-1036-D32E906B8F80}"/>
              </a:ext>
            </a:extLst>
          </p:cNvPr>
          <p:cNvSpPr txBox="1"/>
          <p:nvPr/>
        </p:nvSpPr>
        <p:spPr>
          <a:xfrm>
            <a:off x="172763" y="96761"/>
            <a:ext cx="8971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Supplementary Figure 6. β-HB does not induce T cell differentiation or Caco-2 cell apoptosis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9C8A3B5-2B54-18F2-3945-A1E0AF7DD83E}"/>
              </a:ext>
            </a:extLst>
          </p:cNvPr>
          <p:cNvSpPr txBox="1"/>
          <p:nvPr/>
        </p:nvSpPr>
        <p:spPr>
          <a:xfrm>
            <a:off x="482984" y="4261531"/>
            <a:ext cx="53514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zh-CN" sz="1050" dirty="0"/>
              <a:t>β-</a:t>
            </a:r>
            <a:r>
              <a:rPr lang="en-US" altLang="zh-CN" sz="1050" dirty="0"/>
              <a:t>HB</a:t>
            </a:r>
            <a:r>
              <a:rPr lang="zh-CN" altLang="en-US" sz="1050" dirty="0"/>
              <a:t>对</a:t>
            </a:r>
            <a:r>
              <a:rPr lang="el-GR" altLang="zh-CN" sz="1050" dirty="0"/>
              <a:t>γδ</a:t>
            </a:r>
            <a:r>
              <a:rPr lang="en-US" altLang="zh-CN" sz="1050" dirty="0"/>
              <a:t>T</a:t>
            </a:r>
            <a:r>
              <a:rPr lang="zh-CN" altLang="en-US" sz="1050" dirty="0"/>
              <a:t>细胞分化或上皮细胞凋亡均无显著影响，从而排除了细胞自主性机制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364212-87A0-0149-7EED-286053211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1419"/>
            <a:ext cx="7792872" cy="359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64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983EC-5164-9E3B-F3D2-293F50ABF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55442AF-E1FF-488D-25C0-68F45A5DE729}"/>
              </a:ext>
            </a:extLst>
          </p:cNvPr>
          <p:cNvSpPr txBox="1"/>
          <p:nvPr/>
        </p:nvSpPr>
        <p:spPr>
          <a:xfrm>
            <a:off x="172764" y="96761"/>
            <a:ext cx="8357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Figure 5. Gut microbiota from KD-DSS mice accelerate the colitis progression. 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BD33BCB-C3F8-5FBD-A231-735DE531C38B}"/>
              </a:ext>
            </a:extLst>
          </p:cNvPr>
          <p:cNvSpPr txBox="1"/>
          <p:nvPr/>
        </p:nvSpPr>
        <p:spPr>
          <a:xfrm>
            <a:off x="172764" y="5072896"/>
            <a:ext cx="821924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，实验流程示意图。小鼠喂食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KD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，同时给予抗生素混合物和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2.5% DSS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，体重下降、粪便稠度指数、直肠出血指数和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DAI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，结肠长度（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，结肠组织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H&amp;E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染色代表图（比例尺：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300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μm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），以及组织学评分和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PAS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阳性面积定量（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，实验流程示意图。受体小鼠先接受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天联合抗生素处理，随后恢复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天；之后使用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CD-DSS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KD-DSS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供体小鼠在处理第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2-7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天产生的新鲜粪便菌悬液进行粪菌移植。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，体重下降和粪便稠度指数（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，直肠出血指数和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DAI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，结肠长度（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，结肠组织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H&amp;E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MUC2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IL-17A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染色代表图（比例尺：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300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μm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），以及组织学评分、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MUC2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IL-17A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阳性面积定量（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16AEFC1-E7BE-185F-ACED-A97B2D3E5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5459"/>
            <a:ext cx="7826991" cy="456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68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92B9F-9D85-FBCA-FB9E-743D9E4AA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F6DB623-8E84-CD9A-0DB3-6F5BBED01B4A}"/>
              </a:ext>
            </a:extLst>
          </p:cNvPr>
          <p:cNvSpPr txBox="1"/>
          <p:nvPr/>
        </p:nvSpPr>
        <p:spPr>
          <a:xfrm>
            <a:off x="172764" y="96761"/>
            <a:ext cx="8357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Figure 5. Gut microbiota from KD-DSS mice accelerate the colitis progression. 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DF11B1-1166-3FEA-41EC-D4155AF8CB9A}"/>
              </a:ext>
            </a:extLst>
          </p:cNvPr>
          <p:cNvSpPr txBox="1"/>
          <p:nvPr/>
        </p:nvSpPr>
        <p:spPr>
          <a:xfrm>
            <a:off x="288574" y="5453188"/>
            <a:ext cx="8341497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CD-DSS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KD-DSS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处理第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天肠道菌群在属水平上的分类学组成（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n=3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，基于观察到的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OTU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数量进行的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α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多样性分析（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n=3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，基于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16S rRNA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数据分析得到的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Akkermansia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属和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Thomasclavelia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属相对丰度（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n=3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，通过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qPCR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检测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Thomasclavelia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属的相对丰度（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n=12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，通过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qPCR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检测</a:t>
            </a:r>
            <a:r>
              <a:rPr lang="en-US" altLang="zh-CN" sz="11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1100" dirty="0" err="1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zh-CN" altLang="en-US" sz="11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1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ramose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saccharogumia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cocleata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的相对丰度（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n=12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7533037-F055-2EBC-E7C0-0C1C9C81D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78" y="466093"/>
            <a:ext cx="6864959" cy="495592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7B63896-AAE8-1011-AA2E-8A05AFB881F4}"/>
              </a:ext>
            </a:extLst>
          </p:cNvPr>
          <p:cNvSpPr txBox="1"/>
          <p:nvPr/>
        </p:nvSpPr>
        <p:spPr>
          <a:xfrm>
            <a:off x="7055893" y="3092186"/>
            <a:ext cx="20881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/>
              <a:t>Akkermansia</a:t>
            </a:r>
            <a:r>
              <a:rPr lang="zh-CN" altLang="en-US" sz="1400" dirty="0"/>
              <a:t>是一种能够增强黏液屏障的益生菌</a:t>
            </a:r>
          </a:p>
        </p:txBody>
      </p:sp>
    </p:spTree>
    <p:extLst>
      <p:ext uri="{BB962C8B-B14F-4D97-AF65-F5344CB8AC3E}">
        <p14:creationId xmlns:p14="http://schemas.microsoft.com/office/powerpoint/2010/main" val="13126359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246F6-702E-2D3F-3140-9089B6490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77F9EC3-3917-9219-FD14-534EF0535FD8}"/>
              </a:ext>
            </a:extLst>
          </p:cNvPr>
          <p:cNvSpPr txBox="1"/>
          <p:nvPr/>
        </p:nvSpPr>
        <p:spPr>
          <a:xfrm>
            <a:off x="172763" y="96761"/>
            <a:ext cx="89712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Supplementary Figure 7. KD exacerbates colitis in a gut microbiota-dependent </a:t>
            </a:r>
          </a:p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manner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588B930-4E93-627B-E93B-22EDE8D45DA1}"/>
              </a:ext>
            </a:extLst>
          </p:cNvPr>
          <p:cNvSpPr txBox="1"/>
          <p:nvPr/>
        </p:nvSpPr>
        <p:spPr>
          <a:xfrm>
            <a:off x="1830852" y="3478706"/>
            <a:ext cx="53514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/>
              <a:t>KD-DSS</a:t>
            </a:r>
            <a:r>
              <a:rPr lang="zh-CN" altLang="en-US" sz="1050" dirty="0"/>
              <a:t>来源的</a:t>
            </a:r>
            <a:r>
              <a:rPr lang="en-US" altLang="zh-CN" sz="1050" dirty="0"/>
              <a:t>FMT</a:t>
            </a:r>
            <a:r>
              <a:rPr lang="zh-CN" altLang="en-US" sz="1050" dirty="0"/>
              <a:t>使受体形成了类似供体的菌群特征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40842D-39FF-D677-9C5C-1ACF0BD5E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852" y="817390"/>
            <a:ext cx="4390476" cy="25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2813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05401-F2B9-48CD-52AB-49B1CAB9C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6CE2ED4-A92D-91FD-28B0-9F5A6709476D}"/>
              </a:ext>
            </a:extLst>
          </p:cNvPr>
          <p:cNvSpPr txBox="1"/>
          <p:nvPr/>
        </p:nvSpPr>
        <p:spPr>
          <a:xfrm>
            <a:off x="172763" y="96761"/>
            <a:ext cx="89712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Supplementary Figure 8. Long-term ketogenic diet persistently alters </a:t>
            </a:r>
            <a:r>
              <a:rPr lang="en-US" altLang="zh-CN" sz="1800" b="0" i="0" u="none" strike="noStrike" baseline="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Thomasclavelia</a:t>
            </a:r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abundance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8D1B45-4D10-6991-AAF3-C9B98A4787B0}"/>
              </a:ext>
            </a:extLst>
          </p:cNvPr>
          <p:cNvSpPr txBox="1"/>
          <p:nvPr/>
        </p:nvSpPr>
        <p:spPr>
          <a:xfrm>
            <a:off x="1445151" y="4054091"/>
            <a:ext cx="535143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/>
              <a:t>KD</a:t>
            </a:r>
            <a:r>
              <a:rPr lang="zh-CN" altLang="en-US" sz="1050" dirty="0"/>
              <a:t>喂养小鼠中的</a:t>
            </a:r>
            <a:r>
              <a:rPr lang="en-US" altLang="zh-CN" sz="1050" dirty="0" err="1"/>
              <a:t>Thomasclavelia</a:t>
            </a:r>
            <a:r>
              <a:rPr lang="zh-CN" altLang="en-US" sz="1050" dirty="0"/>
              <a:t>仍持续升高。相比之下，</a:t>
            </a:r>
            <a:r>
              <a:rPr lang="en-US" altLang="zh-CN" sz="1050" dirty="0" err="1"/>
              <a:t>Akkermansia</a:t>
            </a:r>
            <a:r>
              <a:rPr lang="zh-CN" altLang="en-US" sz="1050" dirty="0"/>
              <a:t>的丰度呈现出依赖具体环境的动态变化：单独进行</a:t>
            </a:r>
            <a:r>
              <a:rPr lang="en-US" altLang="zh-CN" sz="1050" dirty="0"/>
              <a:t>KD</a:t>
            </a:r>
            <a:r>
              <a:rPr lang="zh-CN" altLang="en-US" sz="1050" dirty="0"/>
              <a:t>喂养时，其丰度维持在较高水平；而在</a:t>
            </a:r>
            <a:r>
              <a:rPr lang="en-US" altLang="zh-CN" sz="1050" dirty="0"/>
              <a:t>KD-DSS</a:t>
            </a:r>
            <a:r>
              <a:rPr lang="zh-CN" altLang="en-US" sz="1050" dirty="0"/>
              <a:t>小鼠中，其丰度受到抑制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D170945-58A2-FD27-4B9D-ABC547A81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314" y="836687"/>
            <a:ext cx="3342857" cy="31238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1E386B4-989D-5CD8-FE91-4CD4CC47A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29" y="879545"/>
            <a:ext cx="3600000" cy="30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055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2CCB9-259E-96BD-78C9-7A58848F7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73EE953-4470-4B7A-FD56-D4C2A42EF39B}"/>
              </a:ext>
            </a:extLst>
          </p:cNvPr>
          <p:cNvSpPr txBox="1"/>
          <p:nvPr/>
        </p:nvSpPr>
        <p:spPr>
          <a:xfrm>
            <a:off x="172763" y="96761"/>
            <a:ext cx="89712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Supplementary Figure 9. Supplementation with A. </a:t>
            </a:r>
            <a:r>
              <a:rPr lang="en-US" altLang="zh-CN" sz="1800" b="0" i="0" u="none" strike="noStrike" baseline="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muciniphila</a:t>
            </a:r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fails to eliminate </a:t>
            </a:r>
          </a:p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 differences in intestinal injury induced by KD combined with DSS treatment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EC4228-6FCE-9921-84FC-5EEFCC256074}"/>
              </a:ext>
            </a:extLst>
          </p:cNvPr>
          <p:cNvSpPr txBox="1"/>
          <p:nvPr/>
        </p:nvSpPr>
        <p:spPr>
          <a:xfrm>
            <a:off x="933360" y="6345741"/>
            <a:ext cx="535143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进行</a:t>
            </a:r>
            <a:r>
              <a:rPr lang="en-US" altLang="zh-CN" sz="1050" dirty="0"/>
              <a:t>AKK</a:t>
            </a:r>
            <a:r>
              <a:rPr lang="zh-CN" altLang="en-US" sz="1050" dirty="0"/>
              <a:t>单菌定植并不能缓解</a:t>
            </a:r>
            <a:r>
              <a:rPr lang="en-US" altLang="zh-CN" sz="1050" dirty="0"/>
              <a:t>KD-DSS</a:t>
            </a:r>
            <a:r>
              <a:rPr lang="zh-CN" altLang="en-US" sz="1050" dirty="0"/>
              <a:t>诱导的结肠炎，从而排除了该菌减少在疾病加重过程中的因果作用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146E0C-FE0E-63A9-7A92-FBED518B9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12" y="743092"/>
            <a:ext cx="5523442" cy="556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2157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15DB5-D25C-2263-9582-C3D9F00BA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F920ECA-0CBB-6FDC-869E-19F14B987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890"/>
            <a:ext cx="9144000" cy="477896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0E51869-D541-5D90-C630-46D1C7D21898}"/>
              </a:ext>
            </a:extLst>
          </p:cNvPr>
          <p:cNvSpPr txBox="1"/>
          <p:nvPr/>
        </p:nvSpPr>
        <p:spPr>
          <a:xfrm>
            <a:off x="172764" y="96761"/>
            <a:ext cx="86232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Figure 6. T. </a:t>
            </a:r>
            <a:r>
              <a:rPr lang="en-US" altLang="zh-CN" sz="1800" b="0" i="0" u="none" strike="noStrike" baseline="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exacerbates colitis through bacterial cell wall components-mediated </a:t>
            </a:r>
          </a:p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innate γδ17 T cell activation.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3775D2-0616-541F-6281-77D3978E881D}"/>
              </a:ext>
            </a:extLst>
          </p:cNvPr>
          <p:cNvSpPr txBox="1"/>
          <p:nvPr/>
        </p:nvSpPr>
        <p:spPr>
          <a:xfrm>
            <a:off x="660088" y="5303307"/>
            <a:ext cx="7194197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，含不同浓度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0-10 mmol/L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）的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生长曲线，纵轴表示细菌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DNA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水平（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n=3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个生物学重复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，实验流程示意图。小鼠接受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2.5% DSS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并喂食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 7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天，同时每日灌胃生理盐水、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ramose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ramose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的相对丰度（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，体重下降和粪便稠度指数（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，直肠出血指数和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DAI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，结肠长度（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，结肠组织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H&amp;E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MUC2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染色代表图（比例尺：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300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μm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），以及组织学评分和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MUC2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阳性面积定量（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，结肠固有层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IL-17A⁺ T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细胞的流式细胞术代表图及其比例（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，结肠固有层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γδ17 T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细胞的流式细胞术代表图及其比例（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409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0D6AD-05FB-AB6A-A53E-3857C3BB3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8DBAB54-DFA6-37EF-E975-C0C908091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4853"/>
            <a:ext cx="7187540" cy="482736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AB9BE8A-5903-2DB6-FDB6-50DF02412E1B}"/>
              </a:ext>
            </a:extLst>
          </p:cNvPr>
          <p:cNvSpPr txBox="1"/>
          <p:nvPr/>
        </p:nvSpPr>
        <p:spPr>
          <a:xfrm>
            <a:off x="172764" y="96761"/>
            <a:ext cx="86232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Figure 6. T. </a:t>
            </a:r>
            <a:r>
              <a:rPr lang="en-US" altLang="zh-CN" sz="1800" b="0" i="0" u="none" strike="noStrike" baseline="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exacerbates colitis through bacterial cell wall components-mediated </a:t>
            </a:r>
          </a:p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innate γδ17 T cell activation.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30A81-7E04-9CF4-42B4-C8C4F8E19970}"/>
              </a:ext>
            </a:extLst>
          </p:cNvPr>
          <p:cNvSpPr txBox="1"/>
          <p:nvPr/>
        </p:nvSpPr>
        <p:spPr>
          <a:xfrm>
            <a:off x="7064711" y="958054"/>
            <a:ext cx="207929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，实验流程示意图。小鼠接受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2.5% DSS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并喂食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 7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天，同时每日灌胃生理盐水、活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或巴氏灭活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的相对丰度（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，体重下降、粪便稠度指数、直肠出血指数和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DAI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，结肠长度（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，结肠组织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H&amp;E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MUC2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染色代表图（比例尺：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300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μm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），以及组织学评分和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MUC2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阳性面积定量（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n=5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细菌成分及其影响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细胞分化的实验示意图。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，使用空白培养基或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培养上清处理后，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γδT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γδ17 T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细胞的流式细胞术代表图及其比例（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n=4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个生物学重复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，使用空白对照、活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、巴氏灭活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裂解物处理后，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γδT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γδ17 T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细胞的流式细胞术代表图及其比例（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n=4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个生物学重复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组）。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79B941-1600-76CD-5A9A-B85E1A92733A}"/>
              </a:ext>
            </a:extLst>
          </p:cNvPr>
          <p:cNvSpPr txBox="1"/>
          <p:nvPr/>
        </p:nvSpPr>
        <p:spPr>
          <a:xfrm>
            <a:off x="1337480" y="5497560"/>
            <a:ext cx="37190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这种效应需要完整的细菌结构，但不依赖细菌活性，因此强烈提示细菌细胞壁成分是其中的活性介质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“鉴于</a:t>
            </a:r>
            <a:r>
              <a:rPr lang="en-US" altLang="zh-CN" sz="1200" dirty="0"/>
              <a:t>T. </a:t>
            </a:r>
            <a:r>
              <a:rPr lang="en-US" altLang="zh-CN" sz="1200" dirty="0" err="1"/>
              <a:t>spiroformis</a:t>
            </a:r>
            <a:r>
              <a:rPr lang="zh-CN" altLang="en-US" sz="1200" dirty="0"/>
              <a:t>是一种革兰氏阳性菌，其细胞壁主要由肽聚糖构成，我们推测</a:t>
            </a:r>
            <a:r>
              <a:rPr lang="en-US" altLang="zh-CN" sz="1200" dirty="0"/>
              <a:t>T. </a:t>
            </a:r>
            <a:r>
              <a:rPr lang="en-US" altLang="zh-CN" sz="1200" dirty="0" err="1"/>
              <a:t>spiroformis</a:t>
            </a:r>
            <a:r>
              <a:rPr lang="zh-CN" altLang="en-US" sz="1200" dirty="0"/>
              <a:t>的肽聚糖最可能是驱动</a:t>
            </a:r>
            <a:r>
              <a:rPr lang="en-US" altLang="zh-CN" sz="1200" dirty="0"/>
              <a:t>γδ17 T</a:t>
            </a:r>
            <a:r>
              <a:rPr lang="zh-CN" altLang="en-US" sz="1200" dirty="0"/>
              <a:t>细胞分化的效应分子”</a:t>
            </a:r>
          </a:p>
        </p:txBody>
      </p:sp>
    </p:spTree>
    <p:extLst>
      <p:ext uri="{BB962C8B-B14F-4D97-AF65-F5344CB8AC3E}">
        <p14:creationId xmlns:p14="http://schemas.microsoft.com/office/powerpoint/2010/main" val="28604075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96990-0D86-C31D-08CC-117B8DB3E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321D82-9A66-93C9-6687-246C522A9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39" y="1922897"/>
            <a:ext cx="8452522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科学问题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如何促进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γδ17 T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细胞分化？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F81E7D-3509-CEF6-F93A-93A4E7EC61FA}"/>
              </a:ext>
            </a:extLst>
          </p:cNvPr>
          <p:cNvSpPr txBox="1"/>
          <p:nvPr/>
        </p:nvSpPr>
        <p:spPr>
          <a:xfrm>
            <a:off x="461751" y="3429000"/>
            <a:ext cx="833651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回答：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选择性促进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28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扩增，该菌进一步诱导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γδ17 T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细胞产生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IL-17A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；其相对完整的细胞壁结构是关键，肽聚糖被作者推测为候选效应分子。</a:t>
            </a:r>
          </a:p>
          <a:p>
            <a:pPr algn="ctr"/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0550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58EB0-532E-A209-9CC4-468369D38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4A54B0-0B60-C4B1-02F2-2166D93CD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39" y="2103437"/>
            <a:ext cx="8452522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科学问题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HB-T. spiroformis-IL-17A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轴在人类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IBD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患者中是否存在，并具有怎样的疾病亚型特异性？</a:t>
            </a:r>
          </a:p>
        </p:txBody>
      </p:sp>
    </p:spTree>
    <p:extLst>
      <p:ext uri="{BB962C8B-B14F-4D97-AF65-F5344CB8AC3E}">
        <p14:creationId xmlns:p14="http://schemas.microsoft.com/office/powerpoint/2010/main" val="32529165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68606-C36D-9893-7BBA-29AD76242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2B582EE-DDA2-2176-0884-403DF50EC158}"/>
              </a:ext>
            </a:extLst>
          </p:cNvPr>
          <p:cNvSpPr txBox="1"/>
          <p:nvPr/>
        </p:nvSpPr>
        <p:spPr>
          <a:xfrm>
            <a:off x="172764" y="96761"/>
            <a:ext cx="8622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Figure 7. UC-specific correlations among β-HB, T. </a:t>
            </a:r>
            <a:r>
              <a:rPr lang="en-US" altLang="zh-CN" sz="1800" b="0" i="0" u="none" strike="noStrike" baseline="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and serum IL-17A.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0991C5-8FF1-0C6C-AED8-F26BD091C3B4}"/>
              </a:ext>
            </a:extLst>
          </p:cNvPr>
          <p:cNvSpPr txBox="1"/>
          <p:nvPr/>
        </p:nvSpPr>
        <p:spPr>
          <a:xfrm>
            <a:off x="96168" y="4699004"/>
            <a:ext cx="42291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，研究设计流程图。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，粪便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浓度与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相对丰度的相关性。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，粪便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AcAc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浓度与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相对丰度的相关性。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，粪便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浓度与血清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IL-17A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水平的相关性。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相对丰度与血清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IL-17A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水平的相关性。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UC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队列中男性与女性患者的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丰度。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相对丰度与年龄的相关性。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F83EAF6-B15E-4077-7CC6-2743F7AFE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4899"/>
            <a:ext cx="9144000" cy="407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9674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5F2CC-F40E-BB66-5096-A90FE9205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57F0874-61C1-C058-C3AC-8AE7B1B947B0}"/>
              </a:ext>
            </a:extLst>
          </p:cNvPr>
          <p:cNvSpPr txBox="1"/>
          <p:nvPr/>
        </p:nvSpPr>
        <p:spPr>
          <a:xfrm>
            <a:off x="172764" y="96761"/>
            <a:ext cx="8622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Figure 7. UC-specific correlations among β-HB, T. </a:t>
            </a:r>
            <a:r>
              <a:rPr lang="en-US" altLang="zh-CN" sz="1800" b="0" i="0" u="none" strike="noStrike" baseline="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en-US" altLang="zh-CN" sz="1800" b="0" i="0" u="none" strike="noStrike" baseline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and serum IL-17A.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7B52AD-8576-0A1C-7C96-1E2A138E492B}"/>
              </a:ext>
            </a:extLst>
          </p:cNvPr>
          <p:cNvSpPr txBox="1"/>
          <p:nvPr/>
        </p:nvSpPr>
        <p:spPr>
          <a:xfrm>
            <a:off x="0" y="4896856"/>
            <a:ext cx="4824484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UC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队列中粪便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低水平组与高水平组的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丰度。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UC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队列中粪便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低水平组与高水平组的血清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IL-17A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水平。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UC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队列中粪便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低水平组与高水平组的细菌丰度。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队列中粪便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低水平组与高水平组的细菌丰度。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UC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队列中粪便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低水平组与高水平组的血清生化指标。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CD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队列中粪便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低水平组与高水平组的血清生化指标。</a:t>
            </a:r>
            <a:endParaRPr lang="en-US" altLang="zh-CN" sz="1100" dirty="0">
              <a:highlight>
                <a:srgbClr val="FFFF00"/>
              </a:highligh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驱动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1100" dirty="0" err="1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扩增并随后介导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UC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IL-17A</a:t>
            </a:r>
            <a:r>
              <a:rPr lang="zh-CN" altLang="en-US" sz="1100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炎症反应的示意图。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1CF232B-5C8A-DB22-F045-C2DC29516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2835"/>
            <a:ext cx="9144000" cy="423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3123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1FA48-D2BE-19FB-2ED6-F48626A7F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3A2EF9-0429-BB94-EFA3-BE09E5536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39" y="1922897"/>
            <a:ext cx="8452522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科学问题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HB-T. spiroformis-IL-17A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轴在人类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IBD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患者中是否存在，并具有怎样的疾病亚型特异性？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E919252-B198-B87D-E351-7DA537E9FD9B}"/>
              </a:ext>
            </a:extLst>
          </p:cNvPr>
          <p:cNvSpPr txBox="1"/>
          <p:nvPr/>
        </p:nvSpPr>
        <p:spPr>
          <a:xfrm>
            <a:off x="461751" y="3429000"/>
            <a:ext cx="833651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回答：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该轴在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UC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患者中表现出显著相关性，但在克罗恩病患者中不明显，提示其可能是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UC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特异性的病理通路。</a:t>
            </a:r>
          </a:p>
          <a:p>
            <a:pPr algn="ctr"/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841843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69C94-9E73-3061-CF4C-61CCF1D58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945FC18-39A2-D055-2547-633E4B17F7D3}"/>
              </a:ext>
            </a:extLst>
          </p:cNvPr>
          <p:cNvSpPr/>
          <p:nvPr/>
        </p:nvSpPr>
        <p:spPr>
          <a:xfrm>
            <a:off x="109782" y="114670"/>
            <a:ext cx="26597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文章主干思维导图</a:t>
            </a:r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FCA3D6DA-5D28-B99E-DDC6-CF5B49CBA3D0}"/>
              </a:ext>
            </a:extLst>
          </p:cNvPr>
          <p:cNvSpPr/>
          <p:nvPr/>
        </p:nvSpPr>
        <p:spPr>
          <a:xfrm>
            <a:off x="2661287" y="1989568"/>
            <a:ext cx="216393" cy="3424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A3759B3-1B03-C5FD-B3A8-3EFF56A3C09C}"/>
              </a:ext>
            </a:extLst>
          </p:cNvPr>
          <p:cNvSpPr txBox="1"/>
          <p:nvPr/>
        </p:nvSpPr>
        <p:spPr>
          <a:xfrm>
            <a:off x="5589754" y="735956"/>
            <a:ext cx="3367972" cy="73866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科学问题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：生酮饮食在健康和肠黏膜损伤状态下分别产生什么影响？造成其影响的关键免疫细胞和炎症因子是什么？</a:t>
            </a:r>
            <a:endParaRPr lang="zh-CN" altLang="en-US" sz="14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2CF4406-C008-0CC6-712E-53B419606764}"/>
              </a:ext>
            </a:extLst>
          </p:cNvPr>
          <p:cNvSpPr txBox="1"/>
          <p:nvPr/>
        </p:nvSpPr>
        <p:spPr>
          <a:xfrm>
            <a:off x="5422625" y="1912812"/>
            <a:ext cx="3702229" cy="5232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科学问题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生酮饮食产生的哪种代谢物介导</a:t>
            </a: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γδ17 T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细胞反应和</a:t>
            </a: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IL-17A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依赖的结肠炎加重？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C6C387-B024-852B-F922-8B9BBD09ED07}"/>
              </a:ext>
            </a:extLst>
          </p:cNvPr>
          <p:cNvSpPr txBox="1"/>
          <p:nvPr/>
        </p:nvSpPr>
        <p:spPr>
          <a:xfrm>
            <a:off x="5657480" y="4541678"/>
            <a:ext cx="3486520" cy="73866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科学问题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l-GR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</a:t>
            </a: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HB-T. spiroformis-IL-17A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轴在人类</a:t>
            </a: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IBD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患者中是否存在，并具有怎样的疾病亚型特异性？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2EF1FB-D2E4-D3B8-DCDE-FA0AF84A8F11}"/>
              </a:ext>
            </a:extLst>
          </p:cNvPr>
          <p:cNvSpPr txBox="1"/>
          <p:nvPr/>
        </p:nvSpPr>
        <p:spPr>
          <a:xfrm>
            <a:off x="194565" y="3600229"/>
            <a:ext cx="5469635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选择性促进</a:t>
            </a:r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 </a:t>
            </a:r>
            <a:r>
              <a:rPr lang="en-US" altLang="zh-CN" sz="165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spiroformis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扩增，该菌进一步诱导</a:t>
            </a:r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γδ17 T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细胞产生</a:t>
            </a:r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IL-17A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；其相对完整的细胞壁结构是关键，肽聚糖被作者推测为候选效应分子。</a:t>
            </a:r>
            <a:endParaRPr lang="zh-CN" altLang="en-US" sz="1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8B7CD8-4140-BC1C-4A53-990A7450DD68}"/>
              </a:ext>
            </a:extLst>
          </p:cNvPr>
          <p:cNvSpPr txBox="1"/>
          <p:nvPr/>
        </p:nvSpPr>
        <p:spPr>
          <a:xfrm>
            <a:off x="540023" y="1105288"/>
            <a:ext cx="4908277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KD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在健康肠道中不造成明显损伤，但在黏膜损伤背景下加重结肠炎，其关键免疫效应与</a:t>
            </a:r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γδ17 T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细胞扩增及</a:t>
            </a:r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IL-17A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升高有关。</a:t>
            </a:r>
            <a:endParaRPr lang="zh-CN" altLang="en-US" sz="165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DB19FAF-317F-07BD-81F3-12E62A7CCF71}"/>
              </a:ext>
            </a:extLst>
          </p:cNvPr>
          <p:cNvSpPr txBox="1"/>
          <p:nvPr/>
        </p:nvSpPr>
        <p:spPr>
          <a:xfrm>
            <a:off x="272738" y="2479716"/>
            <a:ext cx="531374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KD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诱导的</a:t>
            </a:r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是关键候选代谢介质；提高</a:t>
            </a:r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可模拟</a:t>
            </a:r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KD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效应，降低</a:t>
            </a:r>
            <a:r>
              <a:rPr lang="en-US" altLang="zh-CN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6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则可缓解结肠炎。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15F7013-E4CB-D1E9-D52C-83AC25B268B3}"/>
              </a:ext>
            </a:extLst>
          </p:cNvPr>
          <p:cNvSpPr txBox="1"/>
          <p:nvPr/>
        </p:nvSpPr>
        <p:spPr>
          <a:xfrm>
            <a:off x="5686989" y="3009593"/>
            <a:ext cx="3330727" cy="5232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科学问题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β-HB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如何促进</a:t>
            </a: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γδ17 T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细胞分化？</a:t>
            </a:r>
            <a:endParaRPr lang="zh-CN" altLang="en-US" sz="1400" dirty="0"/>
          </a:p>
        </p:txBody>
      </p:sp>
      <p:sp>
        <p:nvSpPr>
          <p:cNvPr id="27" name="箭头: 下 26">
            <a:extLst>
              <a:ext uri="{FF2B5EF4-FFF2-40B4-BE49-F238E27FC236}">
                <a16:creationId xmlns:a16="http://schemas.microsoft.com/office/drawing/2014/main" id="{8B3E8766-6545-C4F7-2ABC-42D35AE2C76E}"/>
              </a:ext>
            </a:extLst>
          </p:cNvPr>
          <p:cNvSpPr/>
          <p:nvPr/>
        </p:nvSpPr>
        <p:spPr>
          <a:xfrm>
            <a:off x="2673981" y="3253332"/>
            <a:ext cx="216393" cy="3424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28" name="箭头: 下 27">
            <a:extLst>
              <a:ext uri="{FF2B5EF4-FFF2-40B4-BE49-F238E27FC236}">
                <a16:creationId xmlns:a16="http://schemas.microsoft.com/office/drawing/2014/main" id="{FD0DD881-33A4-2925-DE5F-D756B17AC67F}"/>
              </a:ext>
            </a:extLst>
          </p:cNvPr>
          <p:cNvSpPr/>
          <p:nvPr/>
        </p:nvSpPr>
        <p:spPr>
          <a:xfrm>
            <a:off x="2673982" y="4684873"/>
            <a:ext cx="216393" cy="3424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A4B0E2-18CE-D17E-A71E-89F67E45BBFF}"/>
              </a:ext>
            </a:extLst>
          </p:cNvPr>
          <p:cNvSpPr txBox="1"/>
          <p:nvPr/>
        </p:nvSpPr>
        <p:spPr>
          <a:xfrm>
            <a:off x="223031" y="5003925"/>
            <a:ext cx="53634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该轴在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UC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患者中表现出显著相关性，但在克罗恩病患者中不明显，提示其可能是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UC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特异性的病理通路。</a:t>
            </a:r>
          </a:p>
        </p:txBody>
      </p:sp>
    </p:spTree>
    <p:extLst>
      <p:ext uri="{BB962C8B-B14F-4D97-AF65-F5344CB8AC3E}">
        <p14:creationId xmlns:p14="http://schemas.microsoft.com/office/powerpoint/2010/main" val="31373451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9A1BDCA-5DBD-4CA5-8445-F3989C07AD25}"/>
              </a:ext>
            </a:extLst>
          </p:cNvPr>
          <p:cNvSpPr/>
          <p:nvPr/>
        </p:nvSpPr>
        <p:spPr>
          <a:xfrm>
            <a:off x="471860" y="535892"/>
            <a:ext cx="8345006" cy="2120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文章优点：</a:t>
            </a:r>
            <a:endParaRPr lang="en-US" altLang="zh-CN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文章机制链条完整，实验层层递进。研究从生酮饮食加重结肠炎的表型出发，串联了营养代谢、肠道菌群和黏膜免疫；提出了“生酮饮食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-KD/BHB-T. spiroformis-γδ17 T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细胞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-IL-17A-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结肠炎”的新机制轴。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链条的验证有些地方证据不够充足，文章写错的地方比较多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D72BDDB-27E6-7411-3AB5-9D29C917130A}"/>
              </a:ext>
            </a:extLst>
          </p:cNvPr>
          <p:cNvSpPr txBox="1"/>
          <p:nvPr/>
        </p:nvSpPr>
        <p:spPr>
          <a:xfrm>
            <a:off x="548862" y="3874963"/>
            <a:ext cx="80462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对我们课题的启发：</a:t>
            </a:r>
            <a:endParaRPr lang="en-US" altLang="zh-CN" b="1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en-US" altLang="zh-CN" b="1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、生酮饮食或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BHB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对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B16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皮下肿瘤的作用可能并非直接作用于肿瘤细胞，而是通过重塑肠道菌群，进一步改变肿瘤免疫微环境。因此，应同时研究“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KD/BHB-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肠道菌群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-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免疫细胞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-B16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肿瘤进展”这一完整机制轴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、首先需要区分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BHB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的直接效应和菌群依赖效应。可在体外检测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BHB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对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B16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细胞增殖、凋亡、迁移及代谢的影响，同时观察其对脾细胞或肿瘤浸润免疫细胞的直接作用。如果直接作用不明显，则重点转向肠道菌群机制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0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22311</TotalTime>
  <Words>5057</Words>
  <Application>Microsoft Office PowerPoint</Application>
  <PresentationFormat>全屏显示(4:3)</PresentationFormat>
  <Paragraphs>278</Paragraphs>
  <Slides>37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5" baseType="lpstr">
      <vt:lpstr>等线</vt:lpstr>
      <vt:lpstr>楷体</vt:lpstr>
      <vt:lpstr>宋体</vt:lpstr>
      <vt:lpstr>Arial</vt:lpstr>
      <vt:lpstr>Calibri</vt:lpstr>
      <vt:lpstr>Calibri Light</vt:lpstr>
      <vt:lpstr>Times New Roman</vt:lpstr>
      <vt:lpstr>Office 主题​​</vt:lpstr>
      <vt:lpstr>生酮饮食通过β-羟基丁酸-螺旋形托马斯克拉维利亚菌-γδ17 T细胞轴在小鼠中加剧DSS诱导的结肠炎</vt:lpstr>
      <vt:lpstr>PowerPoint 演示文稿</vt:lpstr>
      <vt:lpstr>PowerPoint 演示文稿</vt:lpstr>
      <vt:lpstr>PowerPoint 演示文稿</vt:lpstr>
      <vt:lpstr>科学问题1：生酮饮食在健康和肠黏膜损伤状态下分别产生什么影响？造成其影响的关键免疫细胞和炎症因子是什么？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科学问题1：生酮饮食在健康和肠黏膜损伤状态下分别产生什么影响？造成其影响的关键免疫细胞和炎症因子是什么？</vt:lpstr>
      <vt:lpstr>科学问题2：生酮饮食产生的哪种代谢物介导γδ17 T细胞反应和IL-17A依赖的结肠炎加重？</vt:lpstr>
      <vt:lpstr>PowerPoint 演示文稿</vt:lpstr>
      <vt:lpstr>PowerPoint 演示文稿</vt:lpstr>
      <vt:lpstr>PowerPoint 演示文稿</vt:lpstr>
      <vt:lpstr>PowerPoint 演示文稿</vt:lpstr>
      <vt:lpstr>科学问题2：生酮饮食产生的哪种代谢物介导γδ17 T细胞反应和IL-17A依赖的结肠炎加重？</vt:lpstr>
      <vt:lpstr>科学问题3：β-HB如何促进γδ17 T细胞分化？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科学问题3：β-HB如何促进γδ17 T细胞分化？</vt:lpstr>
      <vt:lpstr>科学问题4：β-HB-T. spiroformis-IL-17A轴在人类IBD患者中是否存在，并具有怎样的疾病亚型特异性？</vt:lpstr>
      <vt:lpstr>PowerPoint 演示文稿</vt:lpstr>
      <vt:lpstr>PowerPoint 演示文稿</vt:lpstr>
      <vt:lpstr>科学问题4：β-HB-T. spiroformis-IL-17A轴在人类IBD患者中是否存在，并具有怎样的疾病亚型特异性？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组蛋白乳酸化“开山之作”</dc:title>
  <dc:creator>Derei Wu</dc:creator>
  <cp:lastModifiedBy>Cinderella</cp:lastModifiedBy>
  <cp:revision>300</cp:revision>
  <dcterms:created xsi:type="dcterms:W3CDTF">2022-05-05T02:04:51Z</dcterms:created>
  <dcterms:modified xsi:type="dcterms:W3CDTF">2026-07-02T05:49:14Z</dcterms:modified>
</cp:coreProperties>
</file>